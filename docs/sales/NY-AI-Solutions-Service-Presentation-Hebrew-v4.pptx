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c81dc5b4a84237" /><Relationship Type="http://schemas.openxmlformats.org/officeDocument/2006/relationships/extended-properties" Target="/docProps/app.xml" Id="R52725a9a9a864620" /><Relationship Type="http://schemas.openxmlformats.org/officeDocument/2006/relationships/officeDocument" Target="/ppt/presentation.xml" Id="R0f47928f5cb54f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b01f7cd7c74ef1"/>
  </p:sldMasterIdLst>
  <p:notesMasterIdLst>
    <p:notesMasterId xmlns:r="http://schemas.openxmlformats.org/officeDocument/2006/relationships" r:id="R985a6e8f99844690"/>
  </p:notesMasterIdLst>
  <p:sldIdLst>
    <p:sldId xmlns:r="http://schemas.openxmlformats.org/officeDocument/2006/relationships" id="256" r:id="R539241fe42c24cce"/>
    <p:sldId xmlns:r="http://schemas.openxmlformats.org/officeDocument/2006/relationships" id="257" r:id="R11b00599189b4d23"/>
    <p:sldId xmlns:r="http://schemas.openxmlformats.org/officeDocument/2006/relationships" id="258" r:id="Rb11ca4f1cfc14b5f"/>
    <p:sldId xmlns:r="http://schemas.openxmlformats.org/officeDocument/2006/relationships" id="259" r:id="R54e3864d5ccf4f1b"/>
    <p:sldId xmlns:r="http://schemas.openxmlformats.org/officeDocument/2006/relationships" id="260" r:id="R7c0f3259efc74252"/>
    <p:sldId xmlns:r="http://schemas.openxmlformats.org/officeDocument/2006/relationships" id="261" r:id="R3b7958d139534c36"/>
    <p:sldId xmlns:r="http://schemas.openxmlformats.org/officeDocument/2006/relationships" id="262" r:id="Rff2edd64771a4e3a"/>
    <p:sldId xmlns:r="http://schemas.openxmlformats.org/officeDocument/2006/relationships" id="263" r:id="R6b6ebd5705ec4414"/>
    <p:sldId xmlns:r="http://schemas.openxmlformats.org/officeDocument/2006/relationships" id="264" r:id="Rbaabff421cbc42fc"/>
    <p:sldId xmlns:r="http://schemas.openxmlformats.org/officeDocument/2006/relationships" id="265" r:id="Ra24d039320664b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c8ba31466c4ce8" /><Relationship Type="http://schemas.openxmlformats.org/officeDocument/2006/relationships/slideMaster" Target="/ppt/slideMasters/slideMaster1.xml" Id="R7ab01f7cd7c74ef1" /><Relationship Type="http://schemas.openxmlformats.org/officeDocument/2006/relationships/notesMaster" Target="/ppt/notesMasters/notesMaster1.xml" Id="R985a6e8f99844690" /><Relationship Type="http://schemas.openxmlformats.org/officeDocument/2006/relationships/presProps" Target="/ppt/presProps.xml" Id="R05b0f2c7d8a94bbc" /><Relationship Type="http://schemas.openxmlformats.org/officeDocument/2006/relationships/tableStyles" Target="/ppt/tableStyles.xml" Id="R6a2977c6272f461f" /><Relationship Type="http://schemas.openxmlformats.org/officeDocument/2006/relationships/slide" Target="/ppt/slides/slide1.xml" Id="R539241fe42c24cce" /><Relationship Type="http://schemas.openxmlformats.org/officeDocument/2006/relationships/slide" Target="/ppt/slides/slide2.xml" Id="R11b00599189b4d23" /><Relationship Type="http://schemas.openxmlformats.org/officeDocument/2006/relationships/slide" Target="/ppt/slides/slide3.xml" Id="Rb11ca4f1cfc14b5f" /><Relationship Type="http://schemas.openxmlformats.org/officeDocument/2006/relationships/slide" Target="/ppt/slides/slide4.xml" Id="R54e3864d5ccf4f1b" /><Relationship Type="http://schemas.openxmlformats.org/officeDocument/2006/relationships/slide" Target="/ppt/slides/slide5.xml" Id="R7c0f3259efc74252" /><Relationship Type="http://schemas.openxmlformats.org/officeDocument/2006/relationships/slide" Target="/ppt/slides/slide6.xml" Id="R3b7958d139534c36" /><Relationship Type="http://schemas.openxmlformats.org/officeDocument/2006/relationships/slide" Target="/ppt/slides/slide7.xml" Id="Rff2edd64771a4e3a" /><Relationship Type="http://schemas.openxmlformats.org/officeDocument/2006/relationships/slide" Target="/ppt/slides/slide8.xml" Id="R6b6ebd5705ec4414" /><Relationship Type="http://schemas.openxmlformats.org/officeDocument/2006/relationships/slide" Target="/ppt/slides/slide9.xml" Id="Rbaabff421cbc42fc" /><Relationship Type="http://schemas.openxmlformats.org/officeDocument/2006/relationships/slide" Target="/ppt/slides/slide10.xml" Id="Ra24d039320664b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780bbfcdd247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2ed8fbdd9d4e77" /><Relationship Type="http://schemas.openxmlformats.org/officeDocument/2006/relationships/notesMaster" Target="/ppt/notesMasters/notesMaster1.xml" Id="R9430019b19234b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3fe9bfcf8f4ab1" /><Relationship Type="http://schemas.openxmlformats.org/officeDocument/2006/relationships/notesMaster" Target="/ppt/notesMasters/notesMaster1.xml" Id="R66748599755747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c002d627434d9b" /><Relationship Type="http://schemas.openxmlformats.org/officeDocument/2006/relationships/notesMaster" Target="/ppt/notesMasters/notesMaster1.xml" Id="R3d6d2b32e55f41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8d0474f6bf4698" /><Relationship Type="http://schemas.openxmlformats.org/officeDocument/2006/relationships/notesMaster" Target="/ppt/notesMasters/notesMaster1.xml" Id="Rf271f269acee4c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ab68e20459416b" /><Relationship Type="http://schemas.openxmlformats.org/officeDocument/2006/relationships/notesMaster" Target="/ppt/notesMasters/notesMaster1.xml" Id="R872c2a13f6d742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968796547f41e5" /><Relationship Type="http://schemas.openxmlformats.org/officeDocument/2006/relationships/notesMaster" Target="/ppt/notesMasters/notesMaster1.xml" Id="R3500410d8c3c44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65bca36ede49b0" /><Relationship Type="http://schemas.openxmlformats.org/officeDocument/2006/relationships/notesMaster" Target="/ppt/notesMasters/notesMaster1.xml" Id="Rf98cd496af6b49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491341546c4b3d" /><Relationship Type="http://schemas.openxmlformats.org/officeDocument/2006/relationships/notesMaster" Target="/ppt/notesMasters/notesMaster1.xml" Id="R4df6ce92f9f84a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3e468449494cfe" /><Relationship Type="http://schemas.openxmlformats.org/officeDocument/2006/relationships/notesMaster" Target="/ppt/notesMasters/notesMaster1.xml" Id="R91b5a2f299dd49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418c7307b5416b" /><Relationship Type="http://schemas.openxmlformats.org/officeDocument/2006/relationships/notesMaster" Target="/ppt/notesMasters/notesMaster1.xml" Id="Rb1f3f73d42c54d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הפתיחה מציגה את ההצעה המשולבת: ייעוץ עסקי יחד עם יכולת טכנולוגית מעשית.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app/page.tsx</a:t>
            </a:r>
          </a:p>
          <a:p xmlns:a="http://schemas.openxmlformats.org/drawingml/2006/main">
            <a:r>
              <a:t>- docs/service/value-proposition.md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זהו לב ההצעה. לא שירות אוטומציה בלבד ולא ייעוץ שנגמר במצגת.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app/page.tsx</a:t>
            </a:r>
          </a:p>
          <a:p xmlns:a="http://schemas.openxmlformats.org/drawingml/2006/main">
            <a:r>
              <a:t>- Builder OS: 02-Products/AI-Advisory/2026-08-11-ny-ai-consulting-launch.md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ממסגרים את הבעיה כהחלטה עסקית, לא כפער ידע טכנולוגי.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app/page.tsx</a:t>
            </a:r>
          </a:p>
          <a:p xmlns:a="http://schemas.openxmlformats.org/drawingml/2006/main">
            <a:r>
              <a:t>- app/benefits/page.tsx</a:t>
            </a:r>
          </a:p>
          <a:p xmlns:a="http://schemas.openxmlformats.org/drawingml/2006/main">
            <a:r>
              <a:t>- docs/service/value-proposition.md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החיבור המבוקש: Audit Toolkit למיפוי, Innovation ו-STORM להרחבת חלופות, Red Team לבדיקת עמידות, ובנייה להטמעה.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docs/toolkit/README.md</a:t>
            </a:r>
          </a:p>
          <a:p xmlns:a="http://schemas.openxmlformats.org/drawingml/2006/main">
            <a:r>
              <a:t>- Builder OS: 01-Agentic-OS/Workflows/IDEATION v0.2.md</a:t>
            </a:r>
          </a:p>
          <a:p xmlns:a="http://schemas.openxmlformats.org/drawingml/2006/main">
            <a:r>
              <a:t>- Builder OS: 04-Prompts/Claude/thinking-tools-guide.md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מבהירים שהיכולת רחבה אך הבחירה ממוקדת. פתרון חדש הוא אפשרות, לא ברירת מחדל.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app/page.tsx</a:t>
            </a:r>
          </a:p>
          <a:p xmlns:a="http://schemas.openxmlformats.org/drawingml/2006/main">
            <a:r>
              <a:t>- docs/service/value-proposition.md</a:t>
            </a:r>
          </a:p>
          <a:p xmlns:a="http://schemas.openxmlformats.org/drawingml/2006/main">
            <a:r>
              <a:t>- docs/service/delivery-workflow.md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זהו המוצר הראשון שנמכר כיום. הוא רחב יותר מפיילוט יחיד: קודם מיפוי ותעדוף, ואז Quick Win אחד.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docs/service/delivery-workflow.md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הניסיון וההוכחות מבוססים על הטקסט הציבורי הקיים באתר.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app/page.tsx</a:t>
            </a:r>
          </a:p>
          <a:p xmlns:a="http://schemas.openxmlformats.org/drawingml/2006/main">
            <a:r>
              <a:t>- docs/service/value-proposition.md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RunSmart ו-Resumely מוצגות כהוכחה ליכולת ביצוע, לא כהוכחת ROI ללקוחות ייעוץ.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app/page.tsx</a:t>
            </a:r>
          </a:p>
          <a:p xmlns:a="http://schemas.openxmlformats.org/drawingml/2006/main">
            <a:r>
              <a:t>- docs/service/value-proposition.md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המקרה הוא שותפות עם פרקטיקה עצמאית, לא לקוח זרוע-ארוכה. יש להציג אותו כהוכחת שיטה בלבד.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docs/clients/2026-08-30-michal-engagement-retro.md</a:t>
            </a:r>
          </a:p>
          <a:p xmlns:a="http://schemas.openxmlformats.org/drawingml/2006/main">
            <a:r>
              <a:t>- docs/service/value-proposition.md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הסיום מגדיר בדיוק איך לנהל את השיחה הראשונה ומה הלקוח צריך להביא.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docs/toolkit/01-intake.md</a:t>
            </a:r>
          </a:p>
          <a:p xmlns:a="http://schemas.openxmlformats.org/drawingml/2006/main">
            <a:r>
              <a:t>- app/page.tsx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0b7aa997e54b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0f7501aab14c68" /><Relationship Type="http://schemas.openxmlformats.org/officeDocument/2006/relationships/slideLayout" Target="/ppt/slideLayouts/slideLayout1.xml" Id="Rb8072058a47b45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072058a47b45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1899682c14a4e" /><Relationship Type="http://schemas.openxmlformats.org/officeDocument/2006/relationships/notesSlide" Target="/ppt/notesSlides/notesSlide1.xml" Id="R712e29accd1847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4d42ad72a4742" /><Relationship Type="http://schemas.openxmlformats.org/officeDocument/2006/relationships/notesSlide" Target="/ppt/notesSlides/notesSlide2.xml" Id="R8a1ff9dfb51944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da233625f48bd" /><Relationship Type="http://schemas.openxmlformats.org/officeDocument/2006/relationships/notesSlide" Target="/ppt/notesSlides/notesSlide3.xml" Id="R63cf44e16d4b48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4bfdd0c324e62" /><Relationship Type="http://schemas.openxmlformats.org/officeDocument/2006/relationships/notesSlide" Target="/ppt/notesSlides/notesSlide4.xml" Id="Ra3aa38aa6f4847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c343e48444b09" /><Relationship Type="http://schemas.openxmlformats.org/officeDocument/2006/relationships/notesSlide" Target="/ppt/notesSlides/notesSlide5.xml" Id="Rf34ef0d4a7054e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af5ff2da5478d" /><Relationship Type="http://schemas.openxmlformats.org/officeDocument/2006/relationships/notesSlide" Target="/ppt/notesSlides/notesSlide6.xml" Id="R088c647dd6bd4c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38f6b76d6489e" /><Relationship Type="http://schemas.openxmlformats.org/officeDocument/2006/relationships/notesSlide" Target="/ppt/notesSlides/notesSlide7.xml" Id="R5d54c17189db4e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482b03ac14b24" /><Relationship Type="http://schemas.openxmlformats.org/officeDocument/2006/relationships/image" Target="/ppt/media/image.png" Id="R34c9b5af377240ab" /><Relationship Type="http://schemas.openxmlformats.org/officeDocument/2006/relationships/image" Target="/ppt/media/image2.png" Id="R85ed08468f48402f" /><Relationship Type="http://schemas.openxmlformats.org/officeDocument/2006/relationships/notesSlide" Target="/ppt/notesSlides/notesSlide8.xml" Id="Rb25d00c2a5f347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22542a729425e" /><Relationship Type="http://schemas.openxmlformats.org/officeDocument/2006/relationships/notesSlide" Target="/ppt/notesSlides/notesSlide9.xml" Id="R3713dab684d24d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9f80aadbf45de" /><Relationship Type="http://schemas.openxmlformats.org/officeDocument/2006/relationships/notesSlide" Target="/ppt/notesSlides/notesSlide10.xml" Id="R17f33236b7b84a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C74EF-8CE1-4EFE-952D-959A11BA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D6E8"/>
                </a:solidFill>
              </a:defRPr>
            </a:pPr>
            <a:r>
              <a:rPr sz="975" b="1">
                <a:solidFill>
                  <a:srgbClr val="65D6E8"/>
                </a:solidFill>
              </a:rPr>
              <a:t>NY AI SOLUTIONS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046FC-9977-4991-9AB1-4123B394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23950"/>
            <a:ext cx="8705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‏להפוך את הבינה המלאכותית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0B967-E8E0-4547-A465-25D75ACD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8705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‏מנושא שמדברים עליו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58CCF-133F-49B8-B63D-A786B4F0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8705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‏ליכולת שעובדת בעסק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B027E-996F-4388-A4EA-29A290A1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661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D5E7ED"/>
                </a:solidFill>
              </a:defRPr>
            </a:pPr>
            <a:r>
              <a:rPr sz="1725" b="1">
                <a:solidFill>
                  <a:srgbClr val="D5E7ED"/>
                </a:solidFill>
              </a:rPr>
              <a:t>‏ליווי עסקי וטכנולוגי לעסקים קטנים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B7A51-5FD3-415B-B6AF-08D70D68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61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D5E7ED"/>
                </a:solidFill>
              </a:defRPr>
            </a:pPr>
            <a:r>
              <a:rPr sz="1500" b="0">
                <a:solidFill>
                  <a:srgbClr val="D5E7ED"/>
                </a:solidFill>
              </a:rPr>
              <a:t>‏מהבנת הצורך וקבלת ההחלטה, ועד בנייה והטמעה של הפתרון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CA969-90BD-4B92-89BD-F83A345B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81012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C03FF-54FB-4E6E-B147-CBEDB8EC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5D6E8"/>
                </a:solidFill>
              </a:defRPr>
            </a:pPr>
            <a:r>
              <a:rPr sz="1350" b="1">
                <a:solidFill>
                  <a:srgbClr val="65D6E8"/>
                </a:solidFill>
              </a:rPr>
              <a:t>‏נדב יגאל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84856-A6A3-4DFE-8DA6-67CAC0D8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699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9CC9D5"/>
                </a:solidFill>
              </a:defRPr>
            </a:pPr>
            <a:r>
              <a:rPr sz="1275" b="1">
                <a:solidFill>
                  <a:srgbClr val="9CC9D5"/>
                </a:solidFill>
              </a:rPr>
              <a:t>‏ייעוץ עסקי, ניהול סיכונים ובניית מוצרים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4680B-98F5-4B69-A54C-8C39F134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D6E8"/>
                </a:solidFill>
              </a:defRPr>
            </a:pPr>
            <a:r>
              <a:rPr sz="1500" b="1">
                <a:solidFill>
                  <a:srgbClr val="65D6E8"/>
                </a:solidFill>
              </a:rPr>
              <a:t>העסק קודם. הטכנולוגיה משרתת אותו.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FDFFD-7C69-4C3B-980A-49D8A545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BAC8"/>
                </a:solidFill>
              </a:defRPr>
            </a:pPr>
            <a:r>
              <a:rPr sz="825" b="1">
                <a:solidFill>
                  <a:srgbClr val="8CBAC8"/>
                </a:solidFill>
              </a:rPr>
              <a:t>NY AI SOLUTIONS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29F9A-A1B7-44BE-902F-F8FE0766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BAC8"/>
                </a:solidFill>
              </a:defRPr>
            </a:pPr>
            <a:r>
              <a:rPr sz="825" b="1">
                <a:solidFill>
                  <a:srgbClr val="8CBAC8"/>
                </a:solidFill>
              </a:rPr>
              <a:t>‏01</a:t>
            </a:r>
          </a:p>
        </p:txBody>
      </p:sp>
    </p:spTree>
    <p:extLst>
      <p:ext uri="{BB962C8B-B14F-4D97-AF65-F5344CB8AC3E}">
        <p14:creationId xmlns:p14="http://schemas.microsoft.com/office/powerpoint/2010/main" val="129175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A32CA-7366-4C34-A1E8-807DBD6F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9FC2"/>
                </a:solidFill>
              </a:defRPr>
            </a:pPr>
            <a:r>
              <a:rPr sz="900" b="1">
                <a:solidFill>
                  <a:srgbClr val="009FC2"/>
                </a:solidFill>
              </a:rPr>
              <a:t>‏מה אני מביא לתהליך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99B27-602F-4774-A30D-18D79D4A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‏שלושה עולמות מתחברים לאחריות אחת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C9D8B-CCAE-4635-A96E-4BA1E450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7526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CEEEB-4351-4841-8E93-A532C2D1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52C06-F977-4E3A-B249-770C3E6D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‏02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8D3B6-A67A-4DE5-8F83-459B8BF6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‏אני לא מגיע עם כלי שמחפש בעיה. אני מתחיל מהעסק, בוחן את האפשרויות — ונשאר גם כדי לבנות.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A4497-32E1-4F9E-8CCD-4AF9B9F5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‏ייעוץ עסקי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9422C-64D4-4038-9D1D-623B3A87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‏מטרות, מודל עסקי, לקוחות, תהליכים והחלטות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C38E5-24F0-428C-AF8A-44921058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FC2"/>
                </a:solidFill>
              </a:defRPr>
            </a:pPr>
            <a:r>
              <a:rPr sz="1125" b="1">
                <a:solidFill>
                  <a:srgbClr val="009FC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5B882-DA3C-463B-8817-43A481E4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24225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00E82-0A85-4F4A-92CF-BE124B8F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814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‏חשיבה ובקרת סיכון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CA31C-12F2-4B12-971B-31D457AD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8145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‏חלופות, הנחות, פרטיות, תלות ושיקול דעת אנושי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9C3BD-021C-4212-9C6E-3C31F9C5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FC2"/>
                </a:solidFill>
              </a:defRPr>
            </a:pPr>
            <a:r>
              <a:rPr sz="1125" b="1">
                <a:solidFill>
                  <a:srgbClr val="009FC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91A37-72A3-4CDE-A173-91A0E134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00525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0058B-93B0-44EA-BDBA-23582BED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577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09FC2"/>
                </a:solidFill>
              </a:defRPr>
            </a:pPr>
            <a:r>
              <a:rPr sz="1725" b="1">
                <a:solidFill>
                  <a:srgbClr val="009FC2"/>
                </a:solidFill>
              </a:rPr>
              <a:t>‏בנייה והטמעה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A34B7-75B7-49E1-A753-1CAF4417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5775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‏כלי בינה מלאכותית, סוכנים, אוטומציות, מערכות ומוצרים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B78A0-E027-4A96-A003-734B56A2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FC2"/>
                </a:solidFill>
              </a:defRPr>
            </a:pPr>
            <a:r>
              <a:rPr sz="1125" b="1">
                <a:solidFill>
                  <a:srgbClr val="009FC2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46D61-7FB5-4167-89A3-E9F8086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76825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A3CE4-D7BF-4550-8F45-255E428C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9120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‏הייעוץ מגדיר מה נכון לעשות. השיטות בודקות שהכיוון מחזיק. יכולת הבנייה הופכת את ההחלטה למציאות.</a:t>
            </a:r>
          </a:p>
        </p:txBody>
      </p:sp>
    </p:spTree>
    <p:extLst>
      <p:ext uri="{BB962C8B-B14F-4D97-AF65-F5344CB8AC3E}">
        <p14:creationId xmlns:p14="http://schemas.microsoft.com/office/powerpoint/2010/main" val="208879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A9F95-0615-43C9-A48A-8F3A0825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9FC2"/>
                </a:solidFill>
              </a:defRPr>
            </a:pPr>
            <a:r>
              <a:rPr sz="900" b="1">
                <a:solidFill>
                  <a:srgbClr val="009FC2"/>
                </a:solidFill>
              </a:rPr>
              <a:t>‏הבעיה העסקית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BCC0F-7A63-44FF-B274-A8A7716B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‏לבעל עסק קטן לא חסרים כלים. חסרה דרך לבחור נכון.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CDAF9-2A68-4E97-BB2E-3EF3C144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7526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09684-A69E-4D2C-9EBE-04699D5C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8BCE4-5677-4648-845C-69604865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‏03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C25C0-D2D7-4A4C-A2E6-1F560D08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5500"/>
            <a:ext cx="6305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‏כל שבוע מופיעים עוד כלים, עוד הבטחות ועוד רעיונות. אבל הזמן של הבעלים מוגבל, העבודה חייבת להמשיך, והחלטה לא נכונה עולה בזמן, כסף ואמון.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963DF-358E-41E8-9E53-1E8AE16C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562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45456-5BF4-48C2-82FF-FD1C0B64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67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‏יותר מדי אפשרויות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5EC7E-7B85-4C01-9F52-E677CA75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6710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‏קשה לדעת מה באמת מתאים לעסק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2C57A-0D03-411F-A6CA-A73BEE1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133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B993B-0DF5-4671-95F0-25575347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38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‏תהליך שלא ברור עד הסוף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AF955-932C-4C43-A96D-8BCA8303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3860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‏אוטומציה מוקדמת רק מקבעת את הבעיה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9DFAF-09C5-469B-806C-1FF577D3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05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B7794-D7C2-4C54-8502-47AC6C0F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0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‏מידע רגיש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83096-4F1F-4EC2-9F26-E516EBD8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1010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‏צריך לתכנן את הגבולות לפני שמחברים מערכת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8A52A-7F40-44A3-AF84-A846D060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276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0BC3D-91C9-4341-88D0-AA67E8C5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81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‏פער בין רעיון לביצוע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0068E-B6E7-42AD-8BF8-9972C76F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‏גם המלצה טובה לא יוצרת שינוי בלי הטמעה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1144A-D449-49AC-870A-9349D8FA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9052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73B27-1C97-4D85-B764-E3E2BBC4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‏השאלה הנכונה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C4AB9-B22F-4D49-BA12-E26E3EA6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3238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‏איפה הבינה המלאכותית יכולה לשפר את העסק — בלי לייצר מערכת מיותרת, סיכון חדש או עומס נוסף?</a:t>
            </a:r>
          </a:p>
        </p:txBody>
      </p:sp>
    </p:spTree>
    <p:extLst>
      <p:ext uri="{BB962C8B-B14F-4D97-AF65-F5344CB8AC3E}">
        <p14:creationId xmlns:p14="http://schemas.microsoft.com/office/powerpoint/2010/main" val="1838339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27B4BE-0EF7-40A6-A632-9F705383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9FC2"/>
                </a:solidFill>
              </a:defRPr>
            </a:pPr>
            <a:r>
              <a:rPr sz="900" b="1">
                <a:solidFill>
                  <a:srgbClr val="009FC2"/>
                </a:solidFill>
              </a:rPr>
              <a:t>‏מהבנת העסק עד ביצוע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6BD6D-30E0-49B9-947A-D5A2C5EE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‏כך כל השיטות מתחברות לתהליך עסקי אחד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B077D-BAF3-445A-B429-89B2E94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7526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EC781-0C3C-4BF3-8C8E-8C1E31B4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8CFAD-C967-49E2-ABC0-147D55C5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‏04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26DE7-4B96-4660-BB03-795CAB92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0295E-9256-4D7B-8595-7350C41A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FB2CB-B27A-43E1-AB7B-6BD0CEBB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09EC3-B3AF-4907-82E6-6F26D34E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מבינים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25313-54DC-483A-8E72-8DDEE407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623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ייעוץ עסקי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49990-9FDD-4400-BAC6-FAB0931F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19550"/>
            <a:ext cx="1695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מגדירים את המטרה, הלקוחות, האנשים והמגבלות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ACCBE-2D67-4C86-8BA8-025A4364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B75D5-05BE-4FA6-A413-4C279511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70546-EE87-4FC5-B858-D24D17D7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146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ממפים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62FBB-9F16-4497-B0E6-BB182FBC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623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Audit Toolkit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E13D0-A13C-4A2F-94DC-9184B16A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19550"/>
            <a:ext cx="1695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רואים איך העבודה באמת מתבצעת ואיפה נמצא הערך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84496-D749-41AE-9B9E-C862A135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18324-9E92-40A6-9962-8F9322D2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717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2E198-7BB0-4DE4-8F2B-03714448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146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מרחיבים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07B69-7FD9-4861-B970-F2D0E721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623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Innovation + STORM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41336-9555-4004-B4C5-F634646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19550"/>
            <a:ext cx="1695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יוצרים חלופות ובוחנים את הנושא מכמה זוויות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5A67EB-3ACA-4D13-A736-954D19A4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66EDC-596A-4C5A-855B-1540127A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717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7EF98-3C83-43B4-B14F-D01652BF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146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מאתגרים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875C08-7780-428B-BECD-A3A75C3C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623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Red Team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4D16F2-1958-4377-B3A9-8A65CB9B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19550"/>
            <a:ext cx="1695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בודקים הנחות, פרטיות, תלות ותסריטי כשל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0BB431-BA3F-4B99-B78D-65AAF6A3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65B5D1-A5B6-411E-B23E-999CE552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EB1805-37DE-4E9D-9525-1005A05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מבצעים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1904A6-4410-4D3A-9FD7-E3B674D0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9FC2"/>
                </a:solidFill>
              </a:defRPr>
            </a:pPr>
            <a:r>
              <a:rPr sz="1275" b="1">
                <a:solidFill>
                  <a:srgbClr val="009FC2"/>
                </a:solidFill>
              </a:rPr>
              <a:t>Build + Embed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6C66DB-E417-4FED-8295-A1A5D3E8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1695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בונים, בודקים, מדריכים ומודדים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58CD53-3DE3-4B7C-9577-723D2B24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6260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‏הלקוח לא צריך להכיר את שמות השיטות. הוא צריך לקבל החלטה ברורה, פתרון מתאים וסיבה טובה לסמוך עליו.</a:t>
            </a:r>
          </a:p>
        </p:txBody>
      </p:sp>
    </p:spTree>
    <p:extLst>
      <p:ext uri="{BB962C8B-B14F-4D97-AF65-F5344CB8AC3E}">
        <p14:creationId xmlns:p14="http://schemas.microsoft.com/office/powerpoint/2010/main" val="2118622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7101B-0312-4F5F-BE08-B3AA231A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9FC2"/>
                </a:solidFill>
              </a:defRPr>
            </a:pPr>
            <a:r>
              <a:rPr sz="900" b="1">
                <a:solidFill>
                  <a:srgbClr val="009FC2"/>
                </a:solidFill>
              </a:rPr>
              <a:t>‏מה אפשר לבנות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2FF48-053C-4917-A89B-7386E051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‏הפתרון נקבע לפי הצורך — לא לפי רשימת מוצרים מוכנה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CF23A-48B0-4F12-88A7-715D3718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7526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E6998-F375-4D48-8213-575E5741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8943D-9668-4A11-99F0-A11D23DC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‏05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C7BD2-06C2-49B7-8EA9-3F1746B8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FC2"/>
                </a:solidFill>
              </a:defRPr>
            </a:pPr>
            <a:r>
              <a:rPr sz="1125" b="1">
                <a:solidFill>
                  <a:srgbClr val="009F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C6AB4-08D3-4A5F-BE18-493B768A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43200"/>
            <a:ext cx="329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‏להפיק יותר מכלי קיים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F5675-3A8E-46B0-B33C-490E528D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D42B9-C926-4EAE-9356-7AEF1B1A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48100"/>
            <a:ext cx="3295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‏עוזר מותאם, מאגר ידע, תבניות עבודה או שימוש נכון יותר במנוי שכבר קיים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990FC-C530-445D-A2DF-3A88C38C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098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FC2"/>
                </a:solidFill>
              </a:defRPr>
            </a:pPr>
            <a:r>
              <a:rPr sz="1125" b="1">
                <a:solidFill>
                  <a:srgbClr val="009FC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BFFBB-F45D-4261-929C-F6AFB34A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43200"/>
            <a:ext cx="329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‏לשפר תהליך חוזר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CD682-D7AA-40D8-9252-765E7548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1C929-CCD9-4FCC-BC7C-7E14E6CC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48100"/>
            <a:ext cx="3295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‏חיבור בין שלבים, אוטומציה, טיפול במסמכים, מעקבים, סיכומים או הכנה להחלטה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A5757-BA8F-4728-AC6C-4C1066F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FC2"/>
                </a:solidFill>
              </a:defRPr>
            </a:pPr>
            <a:r>
              <a:rPr sz="1125" b="1">
                <a:solidFill>
                  <a:srgbClr val="009FC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06DDE-F295-4064-95E7-F0351E0F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29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‏לבנות כלי או מוצר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2340A-B65A-4D4A-AE76-4F546930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DDD4A-B79E-41A1-B7DB-32A4CFC9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295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‏מערכת פנימית, סוכן ייעודי או מוצר חדש כאשר פתרון מוכן אינו מספיק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FD323-010E-40BF-83C6-D431A52B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AD5DD-6A41-45B9-9323-E382B569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02B0D-890B-4A7A-BAA2-963FA1A2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76900"/>
            <a:ext cx="984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‏לפעמים התשובה הנכונה היא לא לבנות דבר — אלא לשנות החלטה, תהליך או דרך עבודה.</a:t>
            </a:r>
          </a:p>
        </p:txBody>
      </p:sp>
    </p:spTree>
    <p:extLst>
      <p:ext uri="{BB962C8B-B14F-4D97-AF65-F5344CB8AC3E}">
        <p14:creationId xmlns:p14="http://schemas.microsoft.com/office/powerpoint/2010/main" val="7648766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624EB-D856-41F8-B85A-0984FB65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9FC2"/>
                </a:solidFill>
              </a:defRPr>
            </a:pPr>
            <a:r>
              <a:rPr sz="900" b="1">
                <a:solidFill>
                  <a:srgbClr val="009FC2"/>
                </a:solidFill>
              </a:rPr>
              <a:t>‏ספרינט ערך בבינה מלאכותית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F00DB-B4C9-4C9B-AC86-D7752739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‏ההתקשרות הראשונה מחברת בין ייעוץ, החלטה וביצוע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085F4-EBC8-47D8-8CE8-9EAF5EBB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7526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6981E-1AE6-4E96-AF71-C05F1C37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3B8B6-9DED-4223-BA22-45C2F8F7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‏06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2A4F6-2A2A-416D-9FFE-2478FAEF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4290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61D5E-7C14-44A4-A5EC-1AE5FA9A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281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65D6E8"/>
                </a:solidFill>
              </a:defRPr>
            </a:pPr>
            <a:r>
              <a:rPr sz="4200" b="1">
                <a:solidFill>
                  <a:srgbClr val="65D6E8"/>
                </a:solidFill>
              </a:rPr>
              <a:t>7–10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3D257-F8B2-4DF6-A546-CB6C56D3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ימי עסקים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F36C8-FE4E-49DC-9B93-E838AD9A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0072B-20A8-42E5-8FBE-F05B0E43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D5E7ED"/>
                </a:solidFill>
              </a:defRPr>
            </a:pPr>
            <a:r>
              <a:rPr sz="1425" b="1">
                <a:solidFill>
                  <a:srgbClr val="D5E7ED"/>
                </a:solidFill>
              </a:rPr>
              <a:t>‏מתחילים בשיחת התאמה קצרה ומסיימים עם החלטות ברורות, פתרון מהיר שעובד ותוכנית להמשך.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DB473-406F-41EC-8150-24527612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1145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‏01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D5093-A940-43FD-AAD6-00BE5505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601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‏מפת הכלים והמנויים שכבר קיימים בעסק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75115-DC4F-4938-B0EF-F3872DA1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57475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198DC-26F1-4276-959D-F4A9C514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7908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‏02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080FC-2736-4CB7-B6B0-DD6688BC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90825"/>
            <a:ext cx="601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‏מיפוי של 3–5 תהליכים כפי שהם עובדים בפועל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AEF02-7912-48D0-94C9-735502DA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337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D5FCD-374A-4A3D-9CE9-31DB98A0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4671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‏03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F3321-A219-46AE-81CB-145072E7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67100"/>
            <a:ext cx="601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‏תעדוף לפי ערך, מאמץ וסיכון — כולל מה לא לשנות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BDB05-FB4A-408E-A14F-9B677E26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10025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17EA7C-4A84-45F5-9C5A-851B0843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143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‏04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32C8B-4320-4CC2-8B5E-2556825A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43375"/>
            <a:ext cx="601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‏פתרון מהיר אחד שנבנה ומופעל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E5F17-5D68-4011-9F86-A58E5A40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8630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45DC4-65C1-401C-BCC7-6BA12C6A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19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‏05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415AC-DCB7-43BC-AE19-84060EC6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19650"/>
            <a:ext cx="601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‏תוכנית ל־90 יום עם מדדים והחלטות המשך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CF9C66-C91D-434A-8164-8E7A5566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19750"/>
            <a:ext cx="693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‏המחיר נקבע לאחר שיחת ההתאמה ובהתאם להיקף. אין הבטחת החזר השקעה לפני שנמדד קו בסיס.</a:t>
            </a:r>
          </a:p>
        </p:txBody>
      </p:sp>
    </p:spTree>
    <p:extLst>
      <p:ext uri="{BB962C8B-B14F-4D97-AF65-F5344CB8AC3E}">
        <p14:creationId xmlns:p14="http://schemas.microsoft.com/office/powerpoint/2010/main" val="10586139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38CA7-5DBA-4FCB-AA0A-D0DBF1BD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9FC2"/>
                </a:solidFill>
              </a:defRPr>
            </a:pPr>
            <a:r>
              <a:rPr sz="900" b="1">
                <a:solidFill>
                  <a:srgbClr val="009FC2"/>
                </a:solidFill>
              </a:rPr>
              <a:t>‏למה דווקא נדב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3DC69-5FCA-4D64-85C5-CF3FF5E8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‏הערך מגיע מהחיבור בין שיקול דעת עסקי ליכולת לבנות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D8DD0-09BE-4DDC-B56B-377B2202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7526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ABAAB-A8A1-418E-91D0-372FD8B8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FEFA7-CFD0-4662-A1A9-3F4C8EAB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‏07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7B8AC-7169-4A84-9BAB-4B3E6863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02A43"/>
                </a:solidFill>
              </a:defRPr>
            </a:pPr>
            <a:r>
              <a:rPr sz="6300" b="1">
                <a:solidFill>
                  <a:srgbClr val="102A43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44367-40AF-4A0D-8788-638E602F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9FC2"/>
                </a:solidFill>
              </a:defRPr>
            </a:pPr>
            <a:r>
              <a:rPr sz="1650" b="1">
                <a:solidFill>
                  <a:srgbClr val="009FC2"/>
                </a:solidFill>
              </a:rPr>
              <a:t>שנים בניהול סוכנות ביטוח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9B2AC-3FD7-4B9A-B8F7-789F5D70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לצד ניסיון בייעוץ, בנקאות וניהול סיכונים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90B62-E5F2-4B2D-A306-E608491B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52650"/>
            <a:ext cx="95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A7694-1A8B-4574-B1E3-1F176E5D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‏הכשרה עסקית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50E05-EE28-46FE-B7E3-5D32A22B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680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‏תואר ראשון בכלכלה וניהול עסקים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EBCDD-0719-4A59-B3E7-14EDA6E5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‏חשיבה מקצועית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68750-B3D6-4F02-AA91-4DC0696F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680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‏בחינת ערך, סיכון, חלופות ומדידה לפני בחירת טכנולוגיה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AA40B-E7FB-4620-802B-A3B3E91E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‏ניסיון מעשי בבינה מלאכותית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D2AA0-67BB-4721-A97E-FAFEB8FD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80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‏מחקר, סוכנים, אוטומציות, מערכות עבודה ובדיקות איכות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6EF68-F8C0-473D-9546-CA49BEC2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339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‏יכולת מוצר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C7A13-6AD4-447A-B8C0-F9545957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680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‏שתי אפליקציות מבוססות בינה מלאכותית שתוכננו, נבנו והושקו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2E72C-12E7-4BC5-BD82-D3DBC3BC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00700"/>
            <a:ext cx="680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‏לא רק להמליץ על פתרון. לדעת גם לקחת עליו אחריות עד שהוא עובד.</a:t>
            </a:r>
          </a:p>
        </p:txBody>
      </p:sp>
    </p:spTree>
    <p:extLst>
      <p:ext uri="{BB962C8B-B14F-4D97-AF65-F5344CB8AC3E}">
        <p14:creationId xmlns:p14="http://schemas.microsoft.com/office/powerpoint/2010/main" val="320366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B8502-272C-4E82-AC4B-24E1BCBF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9FC2"/>
                </a:solidFill>
              </a:defRPr>
            </a:pPr>
            <a:r>
              <a:rPr sz="900" b="1">
                <a:solidFill>
                  <a:srgbClr val="009FC2"/>
                </a:solidFill>
              </a:rPr>
              <a:t>‏הוכחת ביצוע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28025-3087-461A-9EE3-4A0DBB88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‏המוצרים שבניתי מוכיחים יכולת לעבור מבעיה למוצר חי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99731-4EB7-4B0C-BBD0-6A9C03EC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7526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7C6BF-E827-4597-BA88-0FF6797E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3EE4D-6803-4821-A177-508856A4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‏08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CFAF2-7738-4B4B-A74F-AC6BF938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578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07E8E-6CCF-46A5-818F-E2736294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2578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9b5af377240ab"/>
          <a:stretch xmlns:a="http://schemas.openxmlformats.org/drawingml/2006/main"/>
        </p:blipFill>
        <p:spPr>
          <a:xfrm xmlns:a="http://schemas.openxmlformats.org/drawingml/2006/main">
            <a:off x="1788739" y="2457450"/>
            <a:ext cx="2899522" cy="8763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d08468f48402f"/>
          <a:stretch xmlns:a="http://schemas.openxmlformats.org/drawingml/2006/main"/>
        </p:blipFill>
        <p:spPr>
          <a:xfrm xmlns:a="http://schemas.openxmlformats.org/drawingml/2006/main">
            <a:off x="6938010" y="2457450"/>
            <a:ext cx="4030980" cy="876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16BB9-B792-47E5-9C56-E36198C8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49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אימון ריצה אישי מבוסס בינה מלאכותית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EF15C-E233-4B54-9D9F-17605BA5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68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אסטרטגיית מוצר  ·  תהליכים חכמים  ·  פיתוח אפליקציה  ·  השקה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D3225-3D83-48D8-A6A9-E41D6303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81400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בנייה ושיפור של קורות חיים בעזרת בינה מלאכותית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CEEB6-7C63-485B-AE7F-7B8A12ED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71950"/>
            <a:ext cx="468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D8E2"/>
                </a:solidFill>
              </a:defRPr>
            </a:pPr>
            <a:r>
              <a:rPr sz="1200" b="0">
                <a:solidFill>
                  <a:srgbClr val="B8D8E2"/>
                </a:solidFill>
              </a:rPr>
              <a:t>חוויית משתמש  ·  תהליכים חכמים  ·  פיתוח אפליקציה  ·  השקה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B9A53-3746-496C-B22B-D03B8266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816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‏אלו אינן הדגמות. אלו מוצרים שנבנו מקצה לקצה, הושקו והגיעו למשתמשים אמיתיים.</a:t>
            </a:r>
          </a:p>
        </p:txBody>
      </p:sp>
    </p:spTree>
    <p:extLst>
      <p:ext uri="{BB962C8B-B14F-4D97-AF65-F5344CB8AC3E}">
        <p14:creationId xmlns:p14="http://schemas.microsoft.com/office/powerpoint/2010/main" val="15438120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B410B-A853-49AA-BC64-CA278888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9FC2"/>
                </a:solidFill>
              </a:defRPr>
            </a:pPr>
            <a:r>
              <a:rPr sz="900" b="1">
                <a:solidFill>
                  <a:srgbClr val="009FC2"/>
                </a:solidFill>
              </a:rPr>
              <a:t>‏הוכחה מהשטח — בעילום שם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95A88-4A07-4971-9631-4BA196F5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‏בפרקטיקה מקצועית אחת, הייעוץ הפך למערכת עבודה אמיתית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E599D-C54D-4306-B0EC-2C8BF8F3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7526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D4EED-4FE5-4DAE-A5FF-1CF584FA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B64AD-A7A1-4C82-96E8-63722C83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‏09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90297-D35C-4683-964E-2327D3F1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145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‏המצב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9A965-4075-40B7-8228-0D16E1B1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14550"/>
            <a:ext cx="708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‏תהליכי חיוב ותוכן חזרו על עצמם בלי מערכת עבודה שמחברת ביניהם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FA183-9848-4C4F-85FC-B696344C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19C99-9C7A-4AE2-8CC0-E3F1BE90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FE874-93A8-4F43-A440-363044E8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813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‏הפתרון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17141-EE7B-4417-BBA2-9DAF34C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81350"/>
            <a:ext cx="708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‏נבנו ארבעה עוזרים חכמים עם נכס ידע משותף, בתוך המנוי שכבר היה קיים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7100C-C5C3-4E20-A1F5-B1D89188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3FD97-E091-4E80-BD3F-D3595E1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F4E3C-6B27-4A84-BBDF-29036135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481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9FC2"/>
                </a:solidFill>
              </a:defRPr>
            </a:pPr>
            <a:r>
              <a:rPr sz="1275" b="1">
                <a:solidFill>
                  <a:srgbClr val="009FC2"/>
                </a:solidFill>
              </a:rPr>
              <a:t>‏גבול הפרטיות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23F87-0929-42C3-AA83-42F827B0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48150"/>
            <a:ext cx="708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‏למודל נכנסים כינויים בלבד. זהויות אמיתיות מתחברות מחדש מחוץ למודל בזמן השליחה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623F0-B6FC-41DA-8AF8-0D3BF375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9FC2"/>
                </a:solidFill>
              </a:defRPr>
            </a:pPr>
            <a:r>
              <a:rPr sz="1050" b="1">
                <a:solidFill>
                  <a:srgbClr val="009F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FBE43-039F-4C32-AE48-949BC1B7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E8E23-3DCD-44FA-BCC7-AD00D5CE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042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‏מה זה מוכיח: השיטה ניתנת ליישום. מה זה לא מוכיח: לא נמדד קו בסיס, ולכן לא מוצג החזר השקעה.</a:t>
            </a:r>
          </a:p>
        </p:txBody>
      </p:sp>
    </p:spTree>
    <p:extLst>
      <p:ext uri="{BB962C8B-B14F-4D97-AF65-F5344CB8AC3E}">
        <p14:creationId xmlns:p14="http://schemas.microsoft.com/office/powerpoint/2010/main" val="16823701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7E6FB-05D8-4731-BE8C-F0E68A3E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D6E8"/>
                </a:solidFill>
              </a:defRPr>
            </a:pPr>
            <a:r>
              <a:rPr sz="900" b="1">
                <a:solidFill>
                  <a:srgbClr val="65D6E8"/>
                </a:solidFill>
              </a:rPr>
              <a:t>‏הצעד הבא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F2F40-E14C-4A03-8410-3E0A3BFB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‏לשיחה הראשונה מביאים שאלה עסקית — לא פתרון טכנולוגי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34013-56DD-4EB6-B63F-8627083E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7526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200A7-ACC5-473F-9C8C-BB5DE237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BAC8"/>
                </a:solidFill>
              </a:defRPr>
            </a:pPr>
            <a:r>
              <a:rPr sz="825" b="1">
                <a:solidFill>
                  <a:srgbClr val="8CBAC8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9294A-718E-4BB3-BB18-57DCF218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BAC8"/>
                </a:solidFill>
              </a:defRPr>
            </a:pPr>
            <a:r>
              <a:rPr sz="825" b="1">
                <a:solidFill>
                  <a:srgbClr val="8CBAC8"/>
                </a:solidFill>
              </a:rPr>
              <a:t>‏10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12F32-AA9D-476F-8201-27E10B42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5D6E8"/>
                </a:solidFill>
              </a:defRPr>
            </a:pPr>
            <a:r>
              <a:rPr sz="2325" b="1">
                <a:solidFill>
                  <a:srgbClr val="65D6E8"/>
                </a:solidFill>
              </a:rPr>
              <a:t>30–45 דקות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6E607-DBB0-4B35-8BA7-0D44D0F8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שיחת התאמה ללא עלות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BEE23-68F7-42A9-9BFF-BC49C78B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5E7ED"/>
                </a:solidFill>
              </a:defRPr>
            </a:pPr>
            <a:r>
              <a:rPr sz="1425" b="0">
                <a:solidFill>
                  <a:srgbClr val="D5E7ED"/>
                </a:solidFill>
              </a:rPr>
              <a:t>המטרה היא להבין אם קיימת הזדמנות אמיתית לעסק — ואם אני האדם הנכון לעזור לממש אותה.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569AB-6434-4767-A714-6C5FD53F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95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DBBE8-BD1C-44DE-B47B-77211323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‏מה הייתם רוצים שהעסק יעשה טוב יותר?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28C03-2239-4C53-B159-8CC17D03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0300"/>
            <a:ext cx="640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CC9D5"/>
                </a:solidFill>
              </a:defRPr>
            </a:pPr>
            <a:r>
              <a:rPr sz="1200" b="0">
                <a:solidFill>
                  <a:srgbClr val="9CC9D5"/>
                </a:solidFill>
              </a:rPr>
              <a:t>‏מטרה, עומס, צמיחה או שירות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F8719-0A4B-42D8-BCCC-CB93274E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‏איפה העבודה נתקעת היום?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42C5B-C6B3-4EC4-89DF-6B613EB1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81350"/>
            <a:ext cx="640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CC9D5"/>
                </a:solidFill>
              </a:defRPr>
            </a:pPr>
            <a:r>
              <a:rPr sz="1200" b="0">
                <a:solidFill>
                  <a:srgbClr val="9CC9D5"/>
                </a:solidFill>
              </a:rPr>
              <a:t>‏תהליך, החלטה, מידע או מערכת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CADAC-DBF2-489F-884F-EF99D9C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‏מה כבר ניסיתם?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FF5DA-5788-4A6A-9480-172176C3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62400"/>
            <a:ext cx="640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CC9D5"/>
                </a:solidFill>
              </a:defRPr>
            </a:pPr>
            <a:r>
              <a:rPr sz="1200" b="0">
                <a:solidFill>
                  <a:srgbClr val="9CC9D5"/>
                </a:solidFill>
              </a:rPr>
              <a:t>‏כלים, מנויים, אוטומציות או פתרונות קודמים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14976-1911-46E4-A9B2-DDF9BB76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960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‏מה אסור לנו לסכן?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74EF5-DD05-497A-AC72-9275DE3A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43450"/>
            <a:ext cx="640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CC9D5"/>
                </a:solidFill>
              </a:defRPr>
            </a:pPr>
            <a:r>
              <a:rPr sz="1200" b="0">
                <a:solidFill>
                  <a:srgbClr val="9CC9D5"/>
                </a:solidFill>
              </a:rPr>
              <a:t>‏מידע, איכות, אמון או שליטה אנושית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F2FBC-315B-4CEF-9C48-99F4DEE5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467350"/>
            <a:ext cx="640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E0E88-2A8A-4E26-82C0-FC01E890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562600"/>
            <a:ext cx="594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WhatsApp  054-533-3773    |    nadav.yigal@gmail.com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D1159-1668-4132-AD4F-C887052D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BAC8"/>
                </a:solidFill>
              </a:defRPr>
            </a:pPr>
            <a:r>
              <a:rPr sz="825" b="1">
                <a:solidFill>
                  <a:srgbClr val="8CBAC8"/>
                </a:solidFill>
              </a:rPr>
              <a:t>NY AI SOLUTIONS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EF001-A126-4D99-94DC-D369FDDE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BAC8"/>
                </a:solidFill>
              </a:defRPr>
            </a:pPr>
            <a:r>
              <a:rPr sz="825" b="1">
                <a:solidFill>
                  <a:srgbClr val="8CBAC8"/>
                </a:solidFill>
              </a:rPr>
              <a:t>‏10</a:t>
            </a:r>
          </a:p>
        </p:txBody>
      </p:sp>
    </p:spTree>
    <p:extLst>
      <p:ext uri="{BB962C8B-B14F-4D97-AF65-F5344CB8AC3E}">
        <p14:creationId xmlns:p14="http://schemas.microsoft.com/office/powerpoint/2010/main" val="1347816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2026-08-30T12:39:46.9230000Z</dcterms:created>
  <dcterms:modified xsi:type="dcterms:W3CDTF">2026-08-30T12:39:46.9230000Z</dcterms:modified>
</coreProperties>
</file>