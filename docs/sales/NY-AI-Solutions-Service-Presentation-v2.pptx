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3f7199da304212" /><Relationship Type="http://schemas.openxmlformats.org/officeDocument/2006/relationships/extended-properties" Target="/docProps/app.xml" Id="Rcc40f6927337470f" /><Relationship Type="http://schemas.openxmlformats.org/officeDocument/2006/relationships/officeDocument" Target="/ppt/presentation.xml" Id="Re47986da312a46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69a14f05c647fc"/>
  </p:sldMasterIdLst>
  <p:notesMasterIdLst>
    <p:notesMasterId xmlns:r="http://schemas.openxmlformats.org/officeDocument/2006/relationships" r:id="Rdd8127ee4f924751"/>
  </p:notesMasterIdLst>
  <p:sldIdLst>
    <p:sldId xmlns:r="http://schemas.openxmlformats.org/officeDocument/2006/relationships" id="256" r:id="R9bd9774631754081"/>
    <p:sldId xmlns:r="http://schemas.openxmlformats.org/officeDocument/2006/relationships" id="257" r:id="R8b0a5be9acee4dd4"/>
    <p:sldId xmlns:r="http://schemas.openxmlformats.org/officeDocument/2006/relationships" id="258" r:id="Rcf4777d0de984e6f"/>
    <p:sldId xmlns:r="http://schemas.openxmlformats.org/officeDocument/2006/relationships" id="259" r:id="Raa64748ce4b54dc2"/>
    <p:sldId xmlns:r="http://schemas.openxmlformats.org/officeDocument/2006/relationships" id="260" r:id="Rf5f9172633dd4be6"/>
    <p:sldId xmlns:r="http://schemas.openxmlformats.org/officeDocument/2006/relationships" id="261" r:id="Re2b82215f2154c90"/>
    <p:sldId xmlns:r="http://schemas.openxmlformats.org/officeDocument/2006/relationships" id="262" r:id="R4d7604ee75e443d0"/>
    <p:sldId xmlns:r="http://schemas.openxmlformats.org/officeDocument/2006/relationships" id="263" r:id="R0d672b9d77e8483f"/>
    <p:sldId xmlns:r="http://schemas.openxmlformats.org/officeDocument/2006/relationships" id="264" r:id="Rdd14c8387c0846e0"/>
    <p:sldId xmlns:r="http://schemas.openxmlformats.org/officeDocument/2006/relationships" id="265" r:id="R21567f9e43e247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e9c2ffeeb49e2" /><Relationship Type="http://schemas.openxmlformats.org/officeDocument/2006/relationships/slideMaster" Target="/ppt/slideMasters/slideMaster1.xml" Id="R0469a14f05c647fc" /><Relationship Type="http://schemas.openxmlformats.org/officeDocument/2006/relationships/notesMaster" Target="/ppt/notesMasters/notesMaster1.xml" Id="Rdd8127ee4f924751" /><Relationship Type="http://schemas.openxmlformats.org/officeDocument/2006/relationships/presProps" Target="/ppt/presProps.xml" Id="R01dec2d5d0be4075" /><Relationship Type="http://schemas.openxmlformats.org/officeDocument/2006/relationships/tableStyles" Target="/ppt/tableStyles.xml" Id="R76852cf0aff84dd7" /><Relationship Type="http://schemas.openxmlformats.org/officeDocument/2006/relationships/slide" Target="/ppt/slides/slide1.xml" Id="R9bd9774631754081" /><Relationship Type="http://schemas.openxmlformats.org/officeDocument/2006/relationships/slide" Target="/ppt/slides/slide2.xml" Id="R8b0a5be9acee4dd4" /><Relationship Type="http://schemas.openxmlformats.org/officeDocument/2006/relationships/slide" Target="/ppt/slides/slide3.xml" Id="Rcf4777d0de984e6f" /><Relationship Type="http://schemas.openxmlformats.org/officeDocument/2006/relationships/slide" Target="/ppt/slides/slide4.xml" Id="Raa64748ce4b54dc2" /><Relationship Type="http://schemas.openxmlformats.org/officeDocument/2006/relationships/slide" Target="/ppt/slides/slide5.xml" Id="Rf5f9172633dd4be6" /><Relationship Type="http://schemas.openxmlformats.org/officeDocument/2006/relationships/slide" Target="/ppt/slides/slide6.xml" Id="Re2b82215f2154c90" /><Relationship Type="http://schemas.openxmlformats.org/officeDocument/2006/relationships/slide" Target="/ppt/slides/slide7.xml" Id="R4d7604ee75e443d0" /><Relationship Type="http://schemas.openxmlformats.org/officeDocument/2006/relationships/slide" Target="/ppt/slides/slide8.xml" Id="R0d672b9d77e8483f" /><Relationship Type="http://schemas.openxmlformats.org/officeDocument/2006/relationships/slide" Target="/ppt/slides/slide9.xml" Id="Rdd14c8387c0846e0" /><Relationship Type="http://schemas.openxmlformats.org/officeDocument/2006/relationships/slide" Target="/ppt/slides/slide10.xml" Id="R21567f9e43e2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3065f9960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a79982d737431b" /><Relationship Type="http://schemas.openxmlformats.org/officeDocument/2006/relationships/notesMaster" Target="/ppt/notesMasters/notesMaster1.xml" Id="R78e8ce5329f2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26ef2291334919" /><Relationship Type="http://schemas.openxmlformats.org/officeDocument/2006/relationships/notesMaster" Target="/ppt/notesMasters/notesMaster1.xml" Id="R70f78d28d3d74c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9ce9793f524921" /><Relationship Type="http://schemas.openxmlformats.org/officeDocument/2006/relationships/notesMaster" Target="/ppt/notesMasters/notesMaster1.xml" Id="Rb36b31ffd44b4b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ddac6ef8544396" /><Relationship Type="http://schemas.openxmlformats.org/officeDocument/2006/relationships/notesMaster" Target="/ppt/notesMasters/notesMaster1.xml" Id="Rbb0a7fb7a14547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73e3c4ba894340" /><Relationship Type="http://schemas.openxmlformats.org/officeDocument/2006/relationships/notesMaster" Target="/ppt/notesMasters/notesMaster1.xml" Id="R66bc1bcc4763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6100bda3b4d69" /><Relationship Type="http://schemas.openxmlformats.org/officeDocument/2006/relationships/notesMaster" Target="/ppt/notesMasters/notesMaster1.xml" Id="R34424788f4324b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e04a5d479846fd" /><Relationship Type="http://schemas.openxmlformats.org/officeDocument/2006/relationships/notesMaster" Target="/ppt/notesMasters/notesMaster1.xml" Id="R5a57a6a8344d4c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8020bf7a6b441b" /><Relationship Type="http://schemas.openxmlformats.org/officeDocument/2006/relationships/notesMaster" Target="/ppt/notesMasters/notesMaster1.xml" Id="R05f565c86fcb4d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a741da59d4ae4" /><Relationship Type="http://schemas.openxmlformats.org/officeDocument/2006/relationships/notesMaster" Target="/ppt/notesMasters/notesMaster1.xml" Id="R86fdcd793565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d9e84a5b64736" /><Relationship Type="http://schemas.openxmlformats.org/officeDocument/2006/relationships/notesMaster" Target="/ppt/notesMasters/notesMaster1.xml" Id="R199d91fb9135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פתיחה: אני לא מוכר לכם עוד כלי. אני לוקח תהליך אחד שחוזר על עצמו ובונה בו שיפור שאפשר להשתמש בו בתוך שבוע וחצי.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זהו שקף ההצעה. עצור כאן וודא שהלקוח מבין מה הוא קונה ומה נדרש ממנו. המחיר נקבע רק אחרי שיחת ההתאמה ולפי הגישה והמורכבות.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הדוגמה אינה הבטחה לאוטומציה מסוימת. היא ממחישה את העיקרון: המערכת מטפלת בהכנה החוזרת; האדם שומר על ההחלטה והאישור.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docs/toolkit/03-discovery.md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תאר את הספרינט בשלושה פעלים בלבד: רואים, בוחרים, בונים. כל שאר המתודולוגיה היא האחריות שלנו מאחורי הקלעים.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docs/service/delivery-workflow.md</a:t>
            </a:r>
          </a:p>
          <a:p xmlns:a="http://schemas.openxmlformats.org/drawingml/2006/main">
            <a:r>
              <a:t>- docs/toolkit/README.md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עבור על חמשת התוצרים. הדגש שהספרינט כולל פתרון ראשון אחד בלבד. יתר ההזדמנויות נכנסות לתוכנית ההמשך.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הסבר את ההפרדה: זהות ומקור נשארים אצל הלקוח; המודל מקבל רק את המינימום הדרוש להכנת טיוטה. אין לטעון להסמכת ציות או לחוות דעת משפטית.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docs/clients/2026-08-30-michal-engagement-retro.md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השקף מגן על ההצעה. אל תנסה להפוך כל מתעניין ללקוח. ספרינט דורש תהליך חוזר, בעלים וגישה לעבודה האמיתית.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docs/gtm/fit-call-log.md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זהו שקף ההסבר הפנימי. Audit Toolkit הוא השלד. Innovation ו-STORM עוזרים כשאין פתרון ברור. Red Team הוא שער לפני בנייה. הלקוח קונה תוצאה אחת, לא ארבע מתודולוגיות.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docs/toolkit/README.md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פתח בשאלות ואל תציג את כל המצגת. בקש מהלקוח לתאר את הפעם האחרונה שהתהליך קרה. המטרה היא שם של תהליך, בעלים, תדירות ורגישות מידע.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docs/gtm/fit-call-log.md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סיום: בקש תהליך אחד, לא התחייבות גדולה. אם יש התאמה, שלח סיכום ותיחום לספרינט. אם אין, אמור זאת. שיחת WhatsApp מהאתר מכינה הודעה ואינה שומרת פרטים באתר.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app/LeadForm.tsx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f378fdb8044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0f778e3a94844" /><Relationship Type="http://schemas.openxmlformats.org/officeDocument/2006/relationships/slideLayout" Target="/ppt/slideLayouts/slideLayout1.xml" Id="R8d919634616843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919634616843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6334c4a7f44d7" /><Relationship Type="http://schemas.openxmlformats.org/officeDocument/2006/relationships/image" Target="/ppt/media/image.png" Id="R7876b696f83a4839" /><Relationship Type="http://schemas.openxmlformats.org/officeDocument/2006/relationships/notesSlide" Target="/ppt/notesSlides/notesSlide1.xml" Id="R14ae08625687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0e1222cf3402a" /><Relationship Type="http://schemas.openxmlformats.org/officeDocument/2006/relationships/notesSlide" Target="/ppt/notesSlides/notesSlide2.xml" Id="R5c58aebc452646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88c77fb3d47b2" /><Relationship Type="http://schemas.openxmlformats.org/officeDocument/2006/relationships/notesSlide" Target="/ppt/notesSlides/notesSlide3.xml" Id="R5620c84bdd9c47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47a97e5ba42b4" /><Relationship Type="http://schemas.openxmlformats.org/officeDocument/2006/relationships/notesSlide" Target="/ppt/notesSlides/notesSlide4.xml" Id="Rb0d0b07b5f9049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c3233ebc24ccf" /><Relationship Type="http://schemas.openxmlformats.org/officeDocument/2006/relationships/notesSlide" Target="/ppt/notesSlides/notesSlide5.xml" Id="Rcb5cf08cfb4f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5073ff68f42d7" /><Relationship Type="http://schemas.openxmlformats.org/officeDocument/2006/relationships/notesSlide" Target="/ppt/notesSlides/notesSlide6.xml" Id="R9629600f6e1747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83fae61e94529" /><Relationship Type="http://schemas.openxmlformats.org/officeDocument/2006/relationships/notesSlide" Target="/ppt/notesSlides/notesSlide7.xml" Id="R3a05f86b72fc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597cf283e4780" /><Relationship Type="http://schemas.openxmlformats.org/officeDocument/2006/relationships/notesSlide" Target="/ppt/notesSlides/notesSlide8.xml" Id="R58ea7f2dccbf4d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7beb5af4c435c" /><Relationship Type="http://schemas.openxmlformats.org/officeDocument/2006/relationships/notesSlide" Target="/ppt/notesSlides/notesSlide9.xml" Id="R6f15824185f846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d5d9c5e544a2c" /><Relationship Type="http://schemas.openxmlformats.org/officeDocument/2006/relationships/notesSlide" Target="/ppt/notesSlides/notesSlide10.xml" Id="Rcbdbd54bdea241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0BDB969-A640-4E78-B25A-42078B1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6b696f83a4839"/>
          <a:stretch xmlns:a="http://schemas.openxmlformats.org/drawingml/2006/main"/>
        </p:blipFill>
        <p:spPr>
          <a:xfrm xmlns:a="http://schemas.openxmlformats.org/drawingml/2006/main">
            <a:off x="9977991" y="457200"/>
            <a:ext cx="1094267" cy="723900"/>
          </a:xfrm>
          <a:prstGeom xmlns:a="http://schemas.openxmlformats.org/drawingml/2006/main" prst="rect">
            <a:avLst/>
          </a:prstGeom>
        </p:spPr>
      </p:pic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D30B088-90A5-4141-8B27-69FF4D8A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‫ספרינט תהליך חכם · 7–10 ימי עבודה‬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D2505D4-FF07-439D-9AE1-23FA31EF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‫בוחרים תהליך אחד.</a:t>
            </a:r>
          </a:p>
          <a:p xmlns:a="http://schemas.openxmlformats.org/drawingml/2006/main">
            <a:pPr algn="r">
              <a:defRPr sz="435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משפרים אותו בפועל.‬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01910B2-8173-4B76-803D-257682B5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704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‫פתרון עובד בתוך העסק — לא סדנה, לא רשימת כלים ולא מצגת שנשארת במגירה.‬</a:t>
            </a:r>
          </a:p>
        </p:txBody>
      </p:sp>
      <p:sp>
        <p:nvSpPr>
          <p:cNvPr id="6" name="rule-72-610">
            <a:extLst xmlns:a="http://schemas.openxmlformats.org/drawingml/2006/main">
              <a:ext uri="{FF2B5EF4-FFF2-40B4-BE49-F238E27FC236}">
                <a16:creationId xmlns:a16="http://schemas.microsoft.com/office/drawing/2014/main" id="{BBBF2FB6-CA00-4DE7-AB69-D70D08A4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contact">
            <a:extLst xmlns:a="http://schemas.openxmlformats.org/drawingml/2006/main">
              <a:ext uri="{FF2B5EF4-FFF2-40B4-BE49-F238E27FC236}">
                <a16:creationId xmlns:a16="http://schemas.microsoft.com/office/drawing/2014/main" id="{8CE336C4-D0D7-4450-8041-DBEDE4CF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nadav.yigal@gmail.com  ·  054-533-3773</a:t>
            </a:r>
          </a:p>
        </p:txBody>
      </p:sp>
    </p:spTree>
    <p:extLst>
      <p:ext uri="{BB962C8B-B14F-4D97-AF65-F5344CB8AC3E}">
        <p14:creationId xmlns:p14="http://schemas.microsoft.com/office/powerpoint/2010/main" val="457041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E0F2748C-9B26-40D9-BAEE-067FE23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D0CBC6F-E29A-4BE3-A681-AA0D0A22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"/>
            <a:ext cx="807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‫מה בדיוק קונים?‬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7A774BB9-53C7-4737-9B48-A3217C76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9677BDC-AC8B-4F98-BBE1-4485AB67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D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offer-number">
            <a:extLst xmlns:a="http://schemas.openxmlformats.org/drawingml/2006/main">
              <a:ext uri="{FF2B5EF4-FFF2-40B4-BE49-F238E27FC236}">
                <a16:creationId xmlns:a16="http://schemas.microsoft.com/office/drawing/2014/main" id="{00605006-533A-495A-B63A-7B3AAFD3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7–10</a:t>
            </a:r>
          </a:p>
        </p:txBody>
      </p:sp>
      <p:sp>
        <p:nvSpPr>
          <p:cNvPr id="6" name="offer-days">
            <a:extLst xmlns:a="http://schemas.openxmlformats.org/drawingml/2006/main">
              <a:ext uri="{FF2B5EF4-FFF2-40B4-BE49-F238E27FC236}">
                <a16:creationId xmlns:a16="http://schemas.microsoft.com/office/drawing/2014/main" id="{526081F2-2878-4E62-940E-0CC0AED8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‫ימי עבודה‬</a:t>
            </a:r>
          </a:p>
        </p:txBody>
      </p:sp>
      <p:sp>
        <p:nvSpPr>
          <p:cNvPr id="7" name="offer-definition">
            <a:extLst xmlns:a="http://schemas.openxmlformats.org/drawingml/2006/main">
              <a:ext uri="{FF2B5EF4-FFF2-40B4-BE49-F238E27FC236}">
                <a16:creationId xmlns:a16="http://schemas.microsoft.com/office/drawing/2014/main" id="{21F387EB-C6C7-42C6-A740-1697B30F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38300"/>
            <a:ext cx="67437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‫ספרינט ממוקד שבו אני לומד איך העבודה מתבצעת היום, בוחר איתכם מקום אחד ששווה לשפר, ובונה פתרון ראשון שעובד.‬</a:t>
            </a:r>
          </a:p>
        </p:txBody>
      </p:sp>
      <p:sp>
        <p:nvSpPr>
          <p:cNvPr id="8" name="rule-72-390">
            <a:extLst xmlns:a="http://schemas.openxmlformats.org/drawingml/2006/main">
              <a:ext uri="{FF2B5EF4-FFF2-40B4-BE49-F238E27FC236}">
                <a16:creationId xmlns:a16="http://schemas.microsoft.com/office/drawing/2014/main" id="{12AA2F9F-8E99-442F-821B-B1B9D230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ffer-label-0">
            <a:extLst xmlns:a="http://schemas.openxmlformats.org/drawingml/2006/main">
              <a:ext uri="{FF2B5EF4-FFF2-40B4-BE49-F238E27FC236}">
                <a16:creationId xmlns:a16="http://schemas.microsoft.com/office/drawing/2014/main" id="{39B545D1-EDBE-4631-AD14-C9D81CD4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‫מה צריך מכם‬</a:t>
            </a:r>
          </a:p>
        </p:txBody>
      </p:sp>
      <p:sp>
        <p:nvSpPr>
          <p:cNvPr id="10" name="offer-body-0">
            <a:extLst xmlns:a="http://schemas.openxmlformats.org/drawingml/2006/main">
              <a:ext uri="{FF2B5EF4-FFF2-40B4-BE49-F238E27FC236}">
                <a16:creationId xmlns:a16="http://schemas.microsoft.com/office/drawing/2014/main" id="{17845825-19BB-4CB7-97AF-4F24CBC9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‫3–5 שיחות קצרות, גישה לכלים ואפשרות לראות את התהליך בפועל.‬</a:t>
            </a:r>
          </a:p>
        </p:txBody>
      </p:sp>
      <p:sp>
        <p:nvSpPr>
          <p:cNvPr id="11" name="rule-180-464">
            <a:extLst xmlns:a="http://schemas.openxmlformats.org/drawingml/2006/main">
              <a:ext uri="{FF2B5EF4-FFF2-40B4-BE49-F238E27FC236}">
                <a16:creationId xmlns:a16="http://schemas.microsoft.com/office/drawing/2014/main" id="{ABBAB62A-ADEF-48C9-A591-26465FCE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ffer-label-1">
            <a:extLst xmlns:a="http://schemas.openxmlformats.org/drawingml/2006/main">
              <a:ext uri="{FF2B5EF4-FFF2-40B4-BE49-F238E27FC236}">
                <a16:creationId xmlns:a16="http://schemas.microsoft.com/office/drawing/2014/main" id="{83D95540-169E-47F0-9364-0C0FA126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‫מה אני עושה‬</a:t>
            </a:r>
          </a:p>
        </p:txBody>
      </p:sp>
      <p:sp>
        <p:nvSpPr>
          <p:cNvPr id="13" name="offer-body-1">
            <a:extLst xmlns:a="http://schemas.openxmlformats.org/drawingml/2006/main">
              <a:ext uri="{FF2B5EF4-FFF2-40B4-BE49-F238E27FC236}">
                <a16:creationId xmlns:a16="http://schemas.microsoft.com/office/drawing/2014/main" id="{A5A5AF27-5A9F-47DE-9DF8-982E31CC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91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‫ממפה, בוחר איתכם כיוון, בונה, בודק ומטמיע פתרון ראשון.‬</a:t>
            </a:r>
          </a:p>
        </p:txBody>
      </p:sp>
      <p:sp>
        <p:nvSpPr>
          <p:cNvPr id="14" name="rule-180-538">
            <a:extLst xmlns:a="http://schemas.openxmlformats.org/drawingml/2006/main">
              <a:ext uri="{FF2B5EF4-FFF2-40B4-BE49-F238E27FC236}">
                <a16:creationId xmlns:a16="http://schemas.microsoft.com/office/drawing/2014/main" id="{995B17B9-69C3-44D4-AF64-D2F2CB0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ffer-label-2">
            <a:extLst xmlns:a="http://schemas.openxmlformats.org/drawingml/2006/main">
              <a:ext uri="{FF2B5EF4-FFF2-40B4-BE49-F238E27FC236}">
                <a16:creationId xmlns:a16="http://schemas.microsoft.com/office/drawing/2014/main" id="{F4B26348-7A97-417F-BE2A-C7F22081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95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‫מה אתם מקבלים‬</a:t>
            </a:r>
          </a:p>
        </p:txBody>
      </p:sp>
      <p:sp>
        <p:nvSpPr>
          <p:cNvPr id="16" name="offer-body-2">
            <a:extLst xmlns:a="http://schemas.openxmlformats.org/drawingml/2006/main">
              <a:ext uri="{FF2B5EF4-FFF2-40B4-BE49-F238E27FC236}">
                <a16:creationId xmlns:a16="http://schemas.microsoft.com/office/drawing/2014/main" id="{711A9263-0291-4819-980C-FE44825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‫פתרון אחד עובד ותוכנית ברורה ל־90 הימים הבאים.‬</a:t>
            </a:r>
          </a:p>
        </p:txBody>
      </p:sp>
    </p:spTree>
    <p:extLst>
      <p:ext uri="{BB962C8B-B14F-4D97-AF65-F5344CB8AC3E}">
        <p14:creationId xmlns:p14="http://schemas.microsoft.com/office/powerpoint/2010/main" val="1734080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3">
            <a:extLst xmlns:a="http://schemas.openxmlformats.org/drawingml/2006/main">
              <a:ext uri="{FF2B5EF4-FFF2-40B4-BE49-F238E27FC236}">
                <a16:creationId xmlns:a16="http://schemas.microsoft.com/office/drawing/2014/main" id="{F1C8971A-F633-4291-9C3D-0E018332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060AF5E-7D8B-4030-B3AF-525EBB90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"/>
            <a:ext cx="807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‫כך נראה השינוי בתהליך אמיתי‬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DDE84706-F5C6-4391-861B-F2A644FE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0D730BE-6FBF-46F8-9A11-4F74A747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D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4A5802B-4E5D-437B-BBDF-66074C95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‫דוגמה פשוטה מעסק שירותי‬</a:t>
            </a:r>
          </a:p>
        </p:txBody>
      </p:sp>
      <p:sp>
        <p:nvSpPr>
          <p:cNvPr id="6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8220D7BC-8C27-4B8B-A5F0-E02302AC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‫היום‬</a:t>
            </a:r>
          </a:p>
        </p:txBody>
      </p:sp>
      <p:sp>
        <p:nvSpPr>
          <p:cNvPr id="7" name="after-title">
            <a:extLst xmlns:a="http://schemas.openxmlformats.org/drawingml/2006/main">
              <a:ext uri="{FF2B5EF4-FFF2-40B4-BE49-F238E27FC236}">
                <a16:creationId xmlns:a16="http://schemas.microsoft.com/office/drawing/2014/main" id="{A3F986BA-9F8E-447E-B7A4-07C953ED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‫אחרי‬</a:t>
            </a:r>
          </a:p>
        </p:txBody>
      </p:sp>
      <p:sp>
        <p:nvSpPr>
          <p:cNvPr id="8" name="before-0">
            <a:extLst xmlns:a="http://schemas.openxmlformats.org/drawingml/2006/main">
              <a:ext uri="{FF2B5EF4-FFF2-40B4-BE49-F238E27FC236}">
                <a16:creationId xmlns:a16="http://schemas.microsoft.com/office/drawing/2014/main" id="{313C08D1-6258-43EA-8CCB-9711E92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‫—  מחפשים מידע בכמה מקומות‬</a:t>
            </a:r>
          </a:p>
        </p:txBody>
      </p:sp>
      <p:sp>
        <p:nvSpPr>
          <p:cNvPr id="9" name="before-1">
            <a:extLst xmlns:a="http://schemas.openxmlformats.org/drawingml/2006/main">
              <a:ext uri="{FF2B5EF4-FFF2-40B4-BE49-F238E27FC236}">
                <a16:creationId xmlns:a16="http://schemas.microsoft.com/office/drawing/2014/main" id="{1C7C420D-A68E-43D8-812E-F035C653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‫—  מעתיקים ומנסחים ידנית‬</a:t>
            </a:r>
          </a:p>
        </p:txBody>
      </p:sp>
      <p:sp>
        <p:nvSpPr>
          <p:cNvPr id="10" name="before-2">
            <a:extLst xmlns:a="http://schemas.openxmlformats.org/drawingml/2006/main">
              <a:ext uri="{FF2B5EF4-FFF2-40B4-BE49-F238E27FC236}">
                <a16:creationId xmlns:a16="http://schemas.microsoft.com/office/drawing/2014/main" id="{40DF7E0C-AC58-4D71-B9F9-FC597C2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‫—  רודפים אחרי בדיקה ואישור‬</a:t>
            </a:r>
          </a:p>
        </p:txBody>
      </p:sp>
      <p:sp>
        <p:nvSpPr>
          <p:cNvPr id="11" name="after-0">
            <a:extLst xmlns:a="http://schemas.openxmlformats.org/drawingml/2006/main">
              <a:ext uri="{FF2B5EF4-FFF2-40B4-BE49-F238E27FC236}">
                <a16:creationId xmlns:a16="http://schemas.microsoft.com/office/drawing/2014/main" id="{7FD187AD-40FF-4BB3-AF3D-40354FB7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‫—  המידע נאסף לפי כללים‬</a:t>
            </a:r>
          </a:p>
        </p:txBody>
      </p:sp>
      <p:sp>
        <p:nvSpPr>
          <p:cNvPr id="12" name="after-1">
            <a:extLst xmlns:a="http://schemas.openxmlformats.org/drawingml/2006/main">
              <a:ext uri="{FF2B5EF4-FFF2-40B4-BE49-F238E27FC236}">
                <a16:creationId xmlns:a16="http://schemas.microsoft.com/office/drawing/2014/main" id="{A12E8273-ACBE-4B49-8F4A-EA25BC6C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‫—  טיוטה מוכנה לעבודה‬</a:t>
            </a:r>
          </a:p>
        </p:txBody>
      </p:sp>
      <p:sp>
        <p:nvSpPr>
          <p:cNvPr id="13" name="after-2">
            <a:extLst xmlns:a="http://schemas.openxmlformats.org/drawingml/2006/main">
              <a:ext uri="{FF2B5EF4-FFF2-40B4-BE49-F238E27FC236}">
                <a16:creationId xmlns:a16="http://schemas.microsoft.com/office/drawing/2014/main" id="{11EFC96C-FC36-4CAD-8389-7A480A4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‫—  אדם בודק, מחליט ושולח‬</a:t>
            </a:r>
          </a:p>
        </p:txBody>
      </p:sp>
      <p:sp>
        <p:nvSpPr>
          <p:cNvPr id="14" name="rule-640-218">
            <a:extLst xmlns:a="http://schemas.openxmlformats.org/drawingml/2006/main">
              <a:ext uri="{FF2B5EF4-FFF2-40B4-BE49-F238E27FC236}">
                <a16:creationId xmlns:a16="http://schemas.microsoft.com/office/drawing/2014/main" id="{06A05286-ADC8-4611-A905-37AB4142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ample-close">
            <a:extLst xmlns:a="http://schemas.openxmlformats.org/drawingml/2006/main">
              <a:ext uri="{FF2B5EF4-FFF2-40B4-BE49-F238E27FC236}">
                <a16:creationId xmlns:a16="http://schemas.microsoft.com/office/drawing/2014/main" id="{026EB99C-0363-4252-A92E-C6B02B37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ample-close-text">
            <a:extLst xmlns:a="http://schemas.openxmlformats.org/drawingml/2006/main">
              <a:ext uri="{FF2B5EF4-FFF2-40B4-BE49-F238E27FC236}">
                <a16:creationId xmlns:a16="http://schemas.microsoft.com/office/drawing/2014/main" id="{5103D322-F73E-41DA-AAF4-D4BA413D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1024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‫המערכת מכינה. האדם מחליט. המידע המזהה נשאר אצל הלקוח.‬</a:t>
            </a:r>
          </a:p>
        </p:txBody>
      </p:sp>
    </p:spTree>
    <p:extLst>
      <p:ext uri="{BB962C8B-B14F-4D97-AF65-F5344CB8AC3E}">
        <p14:creationId xmlns:p14="http://schemas.microsoft.com/office/powerpoint/2010/main" val="553784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4">
            <a:extLst xmlns:a="http://schemas.openxmlformats.org/drawingml/2006/main">
              <a:ext uri="{FF2B5EF4-FFF2-40B4-BE49-F238E27FC236}">
                <a16:creationId xmlns:a16="http://schemas.microsoft.com/office/drawing/2014/main" id="{EA464072-EBE5-4761-B29E-6A1CB0A7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48CF0AD-3F3F-41CC-83F8-FE0AFE3D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"/>
            <a:ext cx="807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‫מה קורה בכל שלב של הספרינט‬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2537EE7F-7D8F-40B3-9A33-DB44577A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C6D36D7-DB10-4486-BD80-6F442AEB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D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ule-120-350">
            <a:extLst xmlns:a="http://schemas.openxmlformats.org/drawingml/2006/main">
              <a:ext uri="{FF2B5EF4-FFF2-40B4-BE49-F238E27FC236}">
                <a16:creationId xmlns:a16="http://schemas.microsoft.com/office/drawing/2014/main" id="{0EF62FA2-97C9-45F5-9B7B-C6B52324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9C93FC6C-CF31-4988-8921-0B605D21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day-0">
            <a:extLst xmlns:a="http://schemas.openxmlformats.org/drawingml/2006/main">
              <a:ext uri="{FF2B5EF4-FFF2-40B4-BE49-F238E27FC236}">
                <a16:creationId xmlns:a16="http://schemas.microsoft.com/office/drawing/2014/main" id="{55335421-7725-4B43-AB24-B221D0F6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‫ימים 1–2‬</a:t>
            </a:r>
          </a:p>
        </p:txBody>
      </p:sp>
      <p:sp>
        <p:nvSpPr>
          <p:cNvPr id="8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591237F6-7D8C-4FD9-B2ED-E098A8C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‫רואים‬</a:t>
            </a:r>
          </a:p>
        </p:txBody>
      </p:sp>
      <p:sp>
        <p:nvSpPr>
          <p:cNvPr id="9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BF5E153E-3DE2-4D04-AB47-AEE99531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‫שיחות קצרות, תצפית ומיפוי של הדרך שבה העבודה באמת מתבצעת.‬</a:t>
            </a:r>
          </a:p>
        </p:txBody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B41336C-CED6-4348-B9D1-E5D52157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day-1">
            <a:extLst xmlns:a="http://schemas.openxmlformats.org/drawingml/2006/main">
              <a:ext uri="{FF2B5EF4-FFF2-40B4-BE49-F238E27FC236}">
                <a16:creationId xmlns:a16="http://schemas.microsoft.com/office/drawing/2014/main" id="{03DE4314-53F8-446E-96E1-2DA0CDEE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76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‫ימים 3–5‬</a:t>
            </a:r>
          </a:p>
        </p:txBody>
      </p:sp>
      <p:sp>
        <p:nvSpPr>
          <p:cNvPr id="12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25BD6A92-70A0-4217-BEF3-56EB535E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‫בוחרים‬</a:t>
            </a:r>
          </a:p>
        </p:txBody>
      </p:sp>
      <p:sp>
        <p:nvSpPr>
          <p:cNvPr id="13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B146CF7F-EE85-4DB2-B515-BE788E29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528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‫משווים חלופות, בודקים סיכון ומחליטים מה לבנות — ומה לא.‬</a:t>
            </a:r>
          </a:p>
        </p:txBody>
      </p:sp>
      <p:sp>
        <p:nvSpPr>
          <p:cNvPr id="1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5A274AAA-D183-4E6A-A3D7-96B36D58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day-2">
            <a:extLst xmlns:a="http://schemas.openxmlformats.org/drawingml/2006/main">
              <a:ext uri="{FF2B5EF4-FFF2-40B4-BE49-F238E27FC236}">
                <a16:creationId xmlns:a16="http://schemas.microsoft.com/office/drawing/2014/main" id="{C5D9D68B-65EC-45BF-8F6C-7BAED9DC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‫ימים 6–10‬</a:t>
            </a:r>
          </a:p>
        </p:txBody>
      </p:sp>
      <p:sp>
        <p:nvSpPr>
          <p:cNvPr id="16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CD7B623D-C4C8-4FBC-A572-4E8D0D11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‫בונים‬</a:t>
            </a:r>
          </a:p>
        </p:txBody>
      </p:sp>
      <p:sp>
        <p:nvSpPr>
          <p:cNvPr id="17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1A64781F-48CC-43B8-BE76-66C1D731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‫מקימים פתרון ראשון, בודקים אותו עם המשתמשים ומגדירים מדידה.‬</a:t>
            </a:r>
          </a:p>
        </p:txBody>
      </p:sp>
      <p:sp>
        <p:nvSpPr>
          <p:cNvPr id="18" name="timeline-close">
            <a:extLst xmlns:a="http://schemas.openxmlformats.org/drawingml/2006/main">
              <a:ext uri="{FF2B5EF4-FFF2-40B4-BE49-F238E27FC236}">
                <a16:creationId xmlns:a16="http://schemas.microsoft.com/office/drawing/2014/main" id="{893BE0A6-6DE1-4D0E-A364-44B7DE15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‫לא מחכים לסוף כדי לגלות שטעינו: הלקוח רואה ומאשר את הכיוון לאורך הדרך.‬</a:t>
            </a:r>
          </a:p>
        </p:txBody>
      </p:sp>
    </p:spTree>
    <p:extLst>
      <p:ext uri="{BB962C8B-B14F-4D97-AF65-F5344CB8AC3E}">
        <p14:creationId xmlns:p14="http://schemas.microsoft.com/office/powerpoint/2010/main" val="1567593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5">
            <a:extLst xmlns:a="http://schemas.openxmlformats.org/drawingml/2006/main">
              <a:ext uri="{FF2B5EF4-FFF2-40B4-BE49-F238E27FC236}">
                <a16:creationId xmlns:a16="http://schemas.microsoft.com/office/drawing/2014/main" id="{79DA681E-FB08-499E-9185-029C3645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86CAA48-09EE-465E-9EA1-149754ED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"/>
            <a:ext cx="807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‫מה נשאר אצלכם בסוף‬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08C06BDD-6C38-4D7C-A9DA-9B4EE7E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9965C53-D148-4C1A-A7E7-B823B36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D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d-n-01">
            <a:extLst xmlns:a="http://schemas.openxmlformats.org/drawingml/2006/main">
              <a:ext uri="{FF2B5EF4-FFF2-40B4-BE49-F238E27FC236}">
                <a16:creationId xmlns:a16="http://schemas.microsoft.com/office/drawing/2014/main" id="{AE38DCF8-53E0-44B5-A7C6-7189B6EC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6764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-t-01">
            <a:extLst xmlns:a="http://schemas.openxmlformats.org/drawingml/2006/main">
              <a:ext uri="{FF2B5EF4-FFF2-40B4-BE49-F238E27FC236}">
                <a16:creationId xmlns:a16="http://schemas.microsoft.com/office/drawing/2014/main" id="{B7719FE1-7FCB-45B3-8BD9-96B54F79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‫מפת מצב‬</a:t>
            </a:r>
          </a:p>
        </p:txBody>
      </p:sp>
      <p:sp>
        <p:nvSpPr>
          <p:cNvPr id="7" name="d-b-01">
            <a:extLst xmlns:a="http://schemas.openxmlformats.org/drawingml/2006/main">
              <a:ext uri="{FF2B5EF4-FFF2-40B4-BE49-F238E27FC236}">
                <a16:creationId xmlns:a16="http://schemas.microsoft.com/office/drawing/2014/main" id="{ABAC0326-8211-40B0-8859-2713EE7E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‫באילו כלים כבר משלמים, מי משתמש ולמה.‬</a:t>
            </a:r>
          </a:p>
        </p:txBody>
      </p:sp>
      <p:sp>
        <p:nvSpPr>
          <p:cNvPr id="8" name="rule-650-288">
            <a:extLst xmlns:a="http://schemas.openxmlformats.org/drawingml/2006/main">
              <a:ext uri="{FF2B5EF4-FFF2-40B4-BE49-F238E27FC236}">
                <a16:creationId xmlns:a16="http://schemas.microsoft.com/office/drawing/2014/main" id="{08FD6E33-15C3-4678-8FAD-4BA9942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-n-02">
            <a:extLst xmlns:a="http://schemas.openxmlformats.org/drawingml/2006/main">
              <a:ext uri="{FF2B5EF4-FFF2-40B4-BE49-F238E27FC236}">
                <a16:creationId xmlns:a16="http://schemas.microsoft.com/office/drawing/2014/main" id="{326BC56F-AFF1-4B19-AECC-750E74AE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718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d-t-02">
            <a:extLst xmlns:a="http://schemas.openxmlformats.org/drawingml/2006/main">
              <a:ext uri="{FF2B5EF4-FFF2-40B4-BE49-F238E27FC236}">
                <a16:creationId xmlns:a16="http://schemas.microsoft.com/office/drawing/2014/main" id="{66B94EC7-0655-4F0C-9A03-4452AEE4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‫מפת תהליכים‬</a:t>
            </a:r>
          </a:p>
        </p:txBody>
      </p:sp>
      <p:sp>
        <p:nvSpPr>
          <p:cNvPr id="11" name="d-b-02">
            <a:extLst xmlns:a="http://schemas.openxmlformats.org/drawingml/2006/main">
              <a:ext uri="{FF2B5EF4-FFF2-40B4-BE49-F238E27FC236}">
                <a16:creationId xmlns:a16="http://schemas.microsoft.com/office/drawing/2014/main" id="{CB83FD9B-5CA3-4FD3-BDD8-D4B99CC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‫3–5 תהליכים כפי שהם באמת עובדים.‬</a:t>
            </a:r>
          </a:p>
        </p:txBody>
      </p:sp>
      <p:sp>
        <p:nvSpPr>
          <p:cNvPr id="12" name="rule-650-424">
            <a:extLst xmlns:a="http://schemas.openxmlformats.org/drawingml/2006/main">
              <a:ext uri="{FF2B5EF4-FFF2-40B4-BE49-F238E27FC236}">
                <a16:creationId xmlns:a16="http://schemas.microsoft.com/office/drawing/2014/main" id="{64D198D9-28C1-4CCC-8B7E-0C11E11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-n-03">
            <a:extLst xmlns:a="http://schemas.openxmlformats.org/drawingml/2006/main">
              <a:ext uri="{FF2B5EF4-FFF2-40B4-BE49-F238E27FC236}">
                <a16:creationId xmlns:a16="http://schemas.microsoft.com/office/drawing/2014/main" id="{6B94DC9E-ECD3-4CC1-80BE-AD053F30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672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d-t-03">
            <a:extLst xmlns:a="http://schemas.openxmlformats.org/drawingml/2006/main">
              <a:ext uri="{FF2B5EF4-FFF2-40B4-BE49-F238E27FC236}">
                <a16:creationId xmlns:a16="http://schemas.microsoft.com/office/drawing/2014/main" id="{F5862CB8-4A52-49FA-91C3-9C3B765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‫סדר עדיפויות‬</a:t>
            </a:r>
          </a:p>
        </p:txBody>
      </p:sp>
      <p:sp>
        <p:nvSpPr>
          <p:cNvPr id="15" name="d-b-03">
            <a:extLst xmlns:a="http://schemas.openxmlformats.org/drawingml/2006/main">
              <a:ext uri="{FF2B5EF4-FFF2-40B4-BE49-F238E27FC236}">
                <a16:creationId xmlns:a16="http://schemas.microsoft.com/office/drawing/2014/main" id="{7710281A-3577-432A-AB65-5E0042BE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‫מה כדאי לשפר עכשיו ומה נכון להשאיר כפי שהוא.‬</a:t>
            </a:r>
          </a:p>
        </p:txBody>
      </p:sp>
      <p:sp>
        <p:nvSpPr>
          <p:cNvPr id="16" name="rule-650-560">
            <a:extLst xmlns:a="http://schemas.openxmlformats.org/drawingml/2006/main">
              <a:ext uri="{FF2B5EF4-FFF2-40B4-BE49-F238E27FC236}">
                <a16:creationId xmlns:a16="http://schemas.microsoft.com/office/drawing/2014/main" id="{557B852C-7B25-4C19-99D2-DA972817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-n-04">
            <a:extLst xmlns:a="http://schemas.openxmlformats.org/drawingml/2006/main">
              <a:ext uri="{FF2B5EF4-FFF2-40B4-BE49-F238E27FC236}">
                <a16:creationId xmlns:a16="http://schemas.microsoft.com/office/drawing/2014/main" id="{028EF500-B9FB-466A-ABBF-551150B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d-t-04">
            <a:extLst xmlns:a="http://schemas.openxmlformats.org/drawingml/2006/main">
              <a:ext uri="{FF2B5EF4-FFF2-40B4-BE49-F238E27FC236}">
                <a16:creationId xmlns:a16="http://schemas.microsoft.com/office/drawing/2014/main" id="{9AE0075B-D20F-442A-A6C1-1FAE6D4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‫פתרון ראשון עובד‬</a:t>
            </a:r>
          </a:p>
        </p:txBody>
      </p:sp>
      <p:sp>
        <p:nvSpPr>
          <p:cNvPr id="19" name="d-b-04">
            <a:extLst xmlns:a="http://schemas.openxmlformats.org/drawingml/2006/main">
              <a:ext uri="{FF2B5EF4-FFF2-40B4-BE49-F238E27FC236}">
                <a16:creationId xmlns:a16="http://schemas.microsoft.com/office/drawing/2014/main" id="{DFF5D108-1AA9-409F-8BAE-78D44F3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‫כלי, עוזר או אוטומציה שכבר נבדקו עם המשתמשים.‬</a:t>
            </a:r>
          </a:p>
        </p:txBody>
      </p:sp>
      <p:sp>
        <p:nvSpPr>
          <p:cNvPr id="20" name="rule-72-334">
            <a:extLst xmlns:a="http://schemas.openxmlformats.org/drawingml/2006/main">
              <a:ext uri="{FF2B5EF4-FFF2-40B4-BE49-F238E27FC236}">
                <a16:creationId xmlns:a16="http://schemas.microsoft.com/office/drawing/2014/main" id="{86294003-A1E5-4B79-827C-54FD1168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-n-05">
            <a:extLst xmlns:a="http://schemas.openxmlformats.org/drawingml/2006/main">
              <a:ext uri="{FF2B5EF4-FFF2-40B4-BE49-F238E27FC236}">
                <a16:creationId xmlns:a16="http://schemas.microsoft.com/office/drawing/2014/main" id="{BDFD0926-6704-4013-A532-874FB5D8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d-t-05">
            <a:extLst xmlns:a="http://schemas.openxmlformats.org/drawingml/2006/main">
              <a:ext uri="{FF2B5EF4-FFF2-40B4-BE49-F238E27FC236}">
                <a16:creationId xmlns:a16="http://schemas.microsoft.com/office/drawing/2014/main" id="{E69CE1C6-F741-49F0-8D4B-703CED16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‫תוכנית ל־90 יום‬</a:t>
            </a:r>
          </a:p>
        </p:txBody>
      </p:sp>
      <p:sp>
        <p:nvSpPr>
          <p:cNvPr id="23" name="d-b-05">
            <a:extLst xmlns:a="http://schemas.openxmlformats.org/drawingml/2006/main">
              <a:ext uri="{FF2B5EF4-FFF2-40B4-BE49-F238E27FC236}">
                <a16:creationId xmlns:a16="http://schemas.microsoft.com/office/drawing/2014/main" id="{07C9D395-5797-41A4-9A9F-C37A7BC0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‫מה מודדים, מה מטמיעים ומה בונים אחר כך.‬</a:t>
            </a:r>
          </a:p>
        </p:txBody>
      </p:sp>
      <p:sp>
        <p:nvSpPr>
          <p:cNvPr id="24" name="rule-72-538">
            <a:extLst xmlns:a="http://schemas.openxmlformats.org/drawingml/2006/main">
              <a:ext uri="{FF2B5EF4-FFF2-40B4-BE49-F238E27FC236}">
                <a16:creationId xmlns:a16="http://schemas.microsoft.com/office/drawing/2014/main" id="{EBB1EC3C-A3D3-4DC1-8657-06FD923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liverable-highlight">
            <a:extLst xmlns:a="http://schemas.openxmlformats.org/drawingml/2006/main">
              <a:ext uri="{FF2B5EF4-FFF2-40B4-BE49-F238E27FC236}">
                <a16:creationId xmlns:a16="http://schemas.microsoft.com/office/drawing/2014/main" id="{657CE7C1-3DD5-45BC-B225-9EC6EEE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liverable-highlight-text">
            <a:extLst xmlns:a="http://schemas.openxmlformats.org/drawingml/2006/main">
              <a:ext uri="{FF2B5EF4-FFF2-40B4-BE49-F238E27FC236}">
                <a16:creationId xmlns:a16="http://schemas.microsoft.com/office/drawing/2014/main" id="{FF32CA35-9450-47D0-B1BF-03FDEFB4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‫הצלחה = משהו שעובד, לא מצגת המלצות.‬</a:t>
            </a:r>
          </a:p>
        </p:txBody>
      </p:sp>
    </p:spTree>
    <p:extLst>
      <p:ext uri="{BB962C8B-B14F-4D97-AF65-F5344CB8AC3E}">
        <p14:creationId xmlns:p14="http://schemas.microsoft.com/office/powerpoint/2010/main" val="814170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rivacy-eyebrow">
            <a:extLst xmlns:a="http://schemas.openxmlformats.org/drawingml/2006/main">
              <a:ext uri="{FF2B5EF4-FFF2-40B4-BE49-F238E27FC236}">
                <a16:creationId xmlns:a16="http://schemas.microsoft.com/office/drawing/2014/main" id="{FA1E342F-24BD-426D-A63B-0FE389E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‫שליטה במידע‬</a:t>
            </a:r>
          </a:p>
        </p:txBody>
      </p:sp>
      <p:sp>
        <p:nvSpPr>
          <p:cNvPr id="2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4BB2CDEF-1E3E-4F07-8CCD-6750103C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"/>
            <a:ext cx="7505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‫המודל לא צריך לדעת מי הלקוח‬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A90A668C-7918-4C4D-8439-76FC75E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utside-label">
            <a:extLst xmlns:a="http://schemas.openxmlformats.org/drawingml/2006/main">
              <a:ext uri="{FF2B5EF4-FFF2-40B4-BE49-F238E27FC236}">
                <a16:creationId xmlns:a16="http://schemas.microsoft.com/office/drawing/2014/main" id="{E62FE8C7-69D6-4B19-B7C8-EE8A9189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‫נשאר מחוץ למודל‬</a:t>
            </a:r>
          </a:p>
        </p:txBody>
      </p:sp>
      <p:sp>
        <p:nvSpPr>
          <p:cNvPr id="5" name="inside-label">
            <a:extLst xmlns:a="http://schemas.openxmlformats.org/drawingml/2006/main">
              <a:ext uri="{FF2B5EF4-FFF2-40B4-BE49-F238E27FC236}">
                <a16:creationId xmlns:a16="http://schemas.microsoft.com/office/drawing/2014/main" id="{30254061-60BF-4FC6-9E0D-43686E64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‫יכול להיכנס למודל‬</a:t>
            </a:r>
          </a:p>
        </p:txBody>
      </p:sp>
      <p:sp>
        <p:nvSpPr>
          <p:cNvPr id="6" name="outside-0">
            <a:extLst xmlns:a="http://schemas.openxmlformats.org/drawingml/2006/main">
              <a:ext uri="{FF2B5EF4-FFF2-40B4-BE49-F238E27FC236}">
                <a16:creationId xmlns:a16="http://schemas.microsoft.com/office/drawing/2014/main" id="{CDC0E654-65A7-4424-B61C-CA7967CE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שם ופרטים מזהים‬</a:t>
            </a:r>
          </a:p>
        </p:txBody>
      </p:sp>
      <p:sp>
        <p:nvSpPr>
          <p:cNvPr id="7" name="outside-1">
            <a:extLst xmlns:a="http://schemas.openxmlformats.org/drawingml/2006/main">
              <a:ext uri="{FF2B5EF4-FFF2-40B4-BE49-F238E27FC236}">
                <a16:creationId xmlns:a16="http://schemas.microsoft.com/office/drawing/2014/main" id="{07A331CB-C9C3-49DD-8DF5-A1870D4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קובץ המקור‬</a:t>
            </a:r>
          </a:p>
        </p:txBody>
      </p:sp>
      <p:sp>
        <p:nvSpPr>
          <p:cNvPr id="8" name="outside-2">
            <a:extLst xmlns:a="http://schemas.openxmlformats.org/drawingml/2006/main">
              <a:ext uri="{FF2B5EF4-FFF2-40B4-BE49-F238E27FC236}">
                <a16:creationId xmlns:a16="http://schemas.microsoft.com/office/drawing/2014/main" id="{5A1EB979-039F-4C32-96B3-422B345D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החלטה מקצועית‬</a:t>
            </a:r>
          </a:p>
        </p:txBody>
      </p:sp>
      <p:sp>
        <p:nvSpPr>
          <p:cNvPr id="9" name="outside-3">
            <a:extLst xmlns:a="http://schemas.openxmlformats.org/drawingml/2006/main">
              <a:ext uri="{FF2B5EF4-FFF2-40B4-BE49-F238E27FC236}">
                <a16:creationId xmlns:a16="http://schemas.microsoft.com/office/drawing/2014/main" id="{A3ADBBB4-C142-4807-BC9E-A1169DE9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אישור ושליחה‬</a:t>
            </a:r>
          </a:p>
        </p:txBody>
      </p:sp>
      <p:sp>
        <p:nvSpPr>
          <p:cNvPr id="10" name="inside-0">
            <a:extLst xmlns:a="http://schemas.openxmlformats.org/drawingml/2006/main">
              <a:ext uri="{FF2B5EF4-FFF2-40B4-BE49-F238E27FC236}">
                <a16:creationId xmlns:a16="http://schemas.microsoft.com/office/drawing/2014/main" id="{AADCB30F-07CD-4954-BD16-37490E4D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כינוי במקום שם‬</a:t>
            </a:r>
          </a:p>
        </p:txBody>
      </p:sp>
      <p:sp>
        <p:nvSpPr>
          <p:cNvPr id="11" name="inside-1">
            <a:extLst xmlns:a="http://schemas.openxmlformats.org/drawingml/2006/main">
              <a:ext uri="{FF2B5EF4-FFF2-40B4-BE49-F238E27FC236}">
                <a16:creationId xmlns:a16="http://schemas.microsoft.com/office/drawing/2014/main" id="{8B975EFB-8429-485D-9BB2-C64A3BE5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מידע שאינו מזהה‬</a:t>
            </a:r>
          </a:p>
        </p:txBody>
      </p:sp>
      <p:sp>
        <p:nvSpPr>
          <p:cNvPr id="12" name="inside-2">
            <a:extLst xmlns:a="http://schemas.openxmlformats.org/drawingml/2006/main">
              <a:ext uri="{FF2B5EF4-FFF2-40B4-BE49-F238E27FC236}">
                <a16:creationId xmlns:a16="http://schemas.microsoft.com/office/drawing/2014/main" id="{ADEA4A87-53D1-4979-BAD9-59352321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כללים ותבניות‬</a:t>
            </a:r>
          </a:p>
        </p:txBody>
      </p:sp>
      <p:sp>
        <p:nvSpPr>
          <p:cNvPr id="13" name="inside-3">
            <a:extLst xmlns:a="http://schemas.openxmlformats.org/drawingml/2006/main">
              <a:ext uri="{FF2B5EF4-FFF2-40B4-BE49-F238E27FC236}">
                <a16:creationId xmlns:a16="http://schemas.microsoft.com/office/drawing/2014/main" id="{9BB643D9-04E7-4B21-8069-77BF9ABE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‫—  טיוטה לעבודה‬</a:t>
            </a:r>
          </a:p>
        </p:txBody>
      </p:sp>
      <p:sp>
        <p:nvSpPr>
          <p:cNvPr id="14" name="rule-640-180">
            <a:extLst xmlns:a="http://schemas.openxmlformats.org/drawingml/2006/main">
              <a:ext uri="{FF2B5EF4-FFF2-40B4-BE49-F238E27FC236}">
                <a16:creationId xmlns:a16="http://schemas.microsoft.com/office/drawing/2014/main" id="{66949211-A82C-4CC8-AC09-5B7437BA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ivacy-close">
            <a:extLst xmlns:a="http://schemas.openxmlformats.org/drawingml/2006/main">
              <a:ext uri="{FF2B5EF4-FFF2-40B4-BE49-F238E27FC236}">
                <a16:creationId xmlns:a16="http://schemas.microsoft.com/office/drawing/2014/main" id="{96323208-6104-41F8-A977-CF7560E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‫זהו עיקרון תכנון. דרישות משפטיות ורגולטוריות נבדקות עם בעלי המקצוע של הלקוח.‬</a:t>
            </a:r>
          </a:p>
        </p:txBody>
      </p:sp>
    </p:spTree>
    <p:extLst>
      <p:ext uri="{BB962C8B-B14F-4D97-AF65-F5344CB8AC3E}">
        <p14:creationId xmlns:p14="http://schemas.microsoft.com/office/powerpoint/2010/main" val="1216699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7">
            <a:extLst xmlns:a="http://schemas.openxmlformats.org/drawingml/2006/main">
              <a:ext uri="{FF2B5EF4-FFF2-40B4-BE49-F238E27FC236}">
                <a16:creationId xmlns:a16="http://schemas.microsoft.com/office/drawing/2014/main" id="{BAD00359-FA50-40E9-8D35-D8AFA0C2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7D28730-AAD1-469A-9F8A-C98AED08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"/>
            <a:ext cx="807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‫למי הספרינט מתאים — ולמי לא‬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FE9BFB79-DC8B-4618-A86A-9F0368D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53E832A0-94CF-4F9D-AD82-36B710D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D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it-yes">
            <a:extLst xmlns:a="http://schemas.openxmlformats.org/drawingml/2006/main">
              <a:ext uri="{FF2B5EF4-FFF2-40B4-BE49-F238E27FC236}">
                <a16:creationId xmlns:a16="http://schemas.microsoft.com/office/drawing/2014/main" id="{B49EB9B2-5FBE-4FEE-9CA6-6B2B530C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764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137A5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7A55"/>
                </a:solidFill>
                <a:latin typeface="Arial"/>
                <a:ea typeface="Arial"/>
                <a:cs typeface="Arial"/>
              </a:rPr>
              <a:t>‫מתאים‬</a:t>
            </a:r>
          </a:p>
        </p:txBody>
      </p:sp>
      <p:sp>
        <p:nvSpPr>
          <p:cNvPr id="6" name="fit-no">
            <a:extLst xmlns:a="http://schemas.openxmlformats.org/drawingml/2006/main">
              <a:ext uri="{FF2B5EF4-FFF2-40B4-BE49-F238E27FC236}">
                <a16:creationId xmlns:a16="http://schemas.microsoft.com/office/drawing/2014/main" id="{2D928139-6F4F-4CB7-8E7D-FFD478CF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‫לא מתאים כרגע‬</a:t>
            </a:r>
          </a:p>
        </p:txBody>
      </p:sp>
      <p:sp>
        <p:nvSpPr>
          <p:cNvPr id="7" name="yes-0">
            <a:extLst xmlns:a="http://schemas.openxmlformats.org/drawingml/2006/main">
              <a:ext uri="{FF2B5EF4-FFF2-40B4-BE49-F238E27FC236}">
                <a16:creationId xmlns:a16="http://schemas.microsoft.com/office/drawing/2014/main" id="{6C918B96-AD72-4D5E-AE6C-BE0EA4F2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‫✓  יש תהליך שחוזר על עצמו‬</a:t>
            </a:r>
          </a:p>
        </p:txBody>
      </p:sp>
      <p:sp>
        <p:nvSpPr>
          <p:cNvPr id="8" name="yes-1">
            <a:extLst xmlns:a="http://schemas.openxmlformats.org/drawingml/2006/main">
              <a:ext uri="{FF2B5EF4-FFF2-40B4-BE49-F238E27FC236}">
                <a16:creationId xmlns:a16="http://schemas.microsoft.com/office/drawing/2014/main" id="{D10FD601-DBE3-47D3-AEAD-938AB0A5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‫✓  יש בעל תהליך שאפשר לדבר איתו‬</a:t>
            </a:r>
          </a:p>
        </p:txBody>
      </p:sp>
      <p:sp>
        <p:nvSpPr>
          <p:cNvPr id="9" name="yes-2">
            <a:extLst xmlns:a="http://schemas.openxmlformats.org/drawingml/2006/main">
              <a:ext uri="{FF2B5EF4-FFF2-40B4-BE49-F238E27FC236}">
                <a16:creationId xmlns:a16="http://schemas.microsoft.com/office/drawing/2014/main" id="{62ACA6F6-E662-43CD-B9DA-ECC2B4A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‫✓  יש זמן, עיכוב או טעויות שאפשר למדוד‬</a:t>
            </a:r>
          </a:p>
        </p:txBody>
      </p:sp>
      <p:sp>
        <p:nvSpPr>
          <p:cNvPr id="10" name="yes-3">
            <a:extLst xmlns:a="http://schemas.openxmlformats.org/drawingml/2006/main">
              <a:ext uri="{FF2B5EF4-FFF2-40B4-BE49-F238E27FC236}">
                <a16:creationId xmlns:a16="http://schemas.microsoft.com/office/drawing/2014/main" id="{86AB21D6-9A40-49CD-B14C-F36C936B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‫✓  אפשר לראות את העבודה בפועל‬</a:t>
            </a:r>
          </a:p>
        </p:txBody>
      </p:sp>
      <p:sp>
        <p:nvSpPr>
          <p:cNvPr id="11" name="no-0">
            <a:extLst xmlns:a="http://schemas.openxmlformats.org/drawingml/2006/main">
              <a:ext uri="{FF2B5EF4-FFF2-40B4-BE49-F238E27FC236}">
                <a16:creationId xmlns:a16="http://schemas.microsoft.com/office/drawing/2014/main" id="{3BDC726B-A804-45A6-AC2A-0A71A980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‫×  מחפשים הרצאה כללית על כלים‬</a:t>
            </a:r>
          </a:p>
        </p:txBody>
      </p:sp>
      <p:sp>
        <p:nvSpPr>
          <p:cNvPr id="12" name="no-1">
            <a:extLst xmlns:a="http://schemas.openxmlformats.org/drawingml/2006/main">
              <a:ext uri="{FF2B5EF4-FFF2-40B4-BE49-F238E27FC236}">
                <a16:creationId xmlns:a16="http://schemas.microsoft.com/office/drawing/2014/main" id="{974F615E-55F3-429E-A9F2-50FFD46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‫×  אין תהליך מוגדר‬</a:t>
            </a:r>
          </a:p>
        </p:txBody>
      </p:sp>
      <p:sp>
        <p:nvSpPr>
          <p:cNvPr id="13" name="no-2">
            <a:extLst xmlns:a="http://schemas.openxmlformats.org/drawingml/2006/main">
              <a:ext uri="{FF2B5EF4-FFF2-40B4-BE49-F238E27FC236}">
                <a16:creationId xmlns:a16="http://schemas.microsoft.com/office/drawing/2014/main" id="{5DEC1E32-D5A0-46C8-9F06-6C7D1CF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‫×  רוצים פרויקט תוכנה גדול מראש‬</a:t>
            </a:r>
          </a:p>
        </p:txBody>
      </p:sp>
      <p:sp>
        <p:nvSpPr>
          <p:cNvPr id="14" name="no-3">
            <a:extLst xmlns:a="http://schemas.openxmlformats.org/drawingml/2006/main">
              <a:ext uri="{FF2B5EF4-FFF2-40B4-BE49-F238E27FC236}">
                <a16:creationId xmlns:a16="http://schemas.microsoft.com/office/drawing/2014/main" id="{53F1AF47-B09B-4810-8BBE-4F41453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‫×  אין גישה לאנשים שעושים את העבודה‬</a:t>
            </a:r>
          </a:p>
        </p:txBody>
      </p:sp>
      <p:sp>
        <p:nvSpPr>
          <p:cNvPr id="15" name="rule-640-176">
            <a:extLst xmlns:a="http://schemas.openxmlformats.org/drawingml/2006/main">
              <a:ext uri="{FF2B5EF4-FFF2-40B4-BE49-F238E27FC236}">
                <a16:creationId xmlns:a16="http://schemas.microsoft.com/office/drawing/2014/main" id="{74B749BF-0303-4A57-833B-ABCC41C1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t-close">
            <a:extLst xmlns:a="http://schemas.openxmlformats.org/drawingml/2006/main">
              <a:ext uri="{FF2B5EF4-FFF2-40B4-BE49-F238E27FC236}">
                <a16:creationId xmlns:a16="http://schemas.microsoft.com/office/drawing/2014/main" id="{304F17D0-CB1D-4223-876C-6EA12F8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it-close-text">
            <a:extLst xmlns:a="http://schemas.openxmlformats.org/drawingml/2006/main">
              <a:ext uri="{FF2B5EF4-FFF2-40B4-BE49-F238E27FC236}">
                <a16:creationId xmlns:a16="http://schemas.microsoft.com/office/drawing/2014/main" id="{0A2CA7A5-82CF-4FFB-836A-44BFD841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578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‫אם אי אפשר לתת שם לתהליך — עוד לא נכון להציע ספרינט.‬</a:t>
            </a:r>
          </a:p>
        </p:txBody>
      </p:sp>
    </p:spTree>
    <p:extLst>
      <p:ext uri="{BB962C8B-B14F-4D97-AF65-F5344CB8AC3E}">
        <p14:creationId xmlns:p14="http://schemas.microsoft.com/office/powerpoint/2010/main" val="1604656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8">
            <a:extLst xmlns:a="http://schemas.openxmlformats.org/drawingml/2006/main">
              <a:ext uri="{FF2B5EF4-FFF2-40B4-BE49-F238E27FC236}">
                <a16:creationId xmlns:a16="http://schemas.microsoft.com/office/drawing/2014/main" id="{314736CC-BE3D-42B5-AAD8-1A775ED0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93AA349-E92B-487F-BCE4-F8FBB4D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"/>
            <a:ext cx="807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‫ארבעה כלי חשיבה — שירות אחד‬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AF74CBB2-4F18-469D-853A-5CB0B1C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AB5880B1-01AA-4AB9-8B34-D61E36AE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D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ule-100-300">
            <a:extLst xmlns:a="http://schemas.openxmlformats.org/drawingml/2006/main">
              <a:ext uri="{FF2B5EF4-FFF2-40B4-BE49-F238E27FC236}">
                <a16:creationId xmlns:a16="http://schemas.microsoft.com/office/drawing/2014/main" id="{06BFF995-3A2F-4A5E-B229-A6F67ABE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dot-0">
            <a:extLst xmlns:a="http://schemas.openxmlformats.org/drawingml/2006/main">
              <a:ext uri="{FF2B5EF4-FFF2-40B4-BE49-F238E27FC236}">
                <a16:creationId xmlns:a16="http://schemas.microsoft.com/office/drawing/2014/main" id="{7825A791-528C-43AA-A570-A0EE5063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33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v-0">
            <a:extLst xmlns:a="http://schemas.openxmlformats.org/drawingml/2006/main">
              <a:ext uri="{FF2B5EF4-FFF2-40B4-BE49-F238E27FC236}">
                <a16:creationId xmlns:a16="http://schemas.microsoft.com/office/drawing/2014/main" id="{00853801-96B0-4E82-BA31-6664AF0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‫ממפים‬</a:t>
            </a:r>
          </a:p>
        </p:txBody>
      </p:sp>
      <p:sp>
        <p:nvSpPr>
          <p:cNvPr id="8" name="method-t-0">
            <a:extLst xmlns:a="http://schemas.openxmlformats.org/drawingml/2006/main">
              <a:ext uri="{FF2B5EF4-FFF2-40B4-BE49-F238E27FC236}">
                <a16:creationId xmlns:a16="http://schemas.microsoft.com/office/drawing/2014/main" id="{40064CAD-4B96-4697-A6C5-97247F8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Audit Toolkit</a:t>
            </a:r>
          </a:p>
        </p:txBody>
      </p:sp>
      <p:sp>
        <p:nvSpPr>
          <p:cNvPr id="9" name="method-b-0">
            <a:extLst xmlns:a="http://schemas.openxmlformats.org/drawingml/2006/main">
              <a:ext uri="{FF2B5EF4-FFF2-40B4-BE49-F238E27FC236}">
                <a16:creationId xmlns:a16="http://schemas.microsoft.com/office/drawing/2014/main" id="{40FCBC48-C3D9-40B2-B7D8-AD695A5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234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‫אנשים, מערכות, מידע וזמן.‬</a:t>
            </a:r>
          </a:p>
        </p:txBody>
      </p:sp>
      <p:sp>
        <p:nvSpPr>
          <p:cNvPr id="10" name="method-dot-1">
            <a:extLst xmlns:a="http://schemas.openxmlformats.org/drawingml/2006/main">
              <a:ext uri="{FF2B5EF4-FFF2-40B4-BE49-F238E27FC236}">
                <a16:creationId xmlns:a16="http://schemas.microsoft.com/office/drawing/2014/main" id="{6E2AA0F8-DF90-42E4-9C99-D41D6B1B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33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od-v-1">
            <a:extLst xmlns:a="http://schemas.openxmlformats.org/drawingml/2006/main">
              <a:ext uri="{FF2B5EF4-FFF2-40B4-BE49-F238E27FC236}">
                <a16:creationId xmlns:a16="http://schemas.microsoft.com/office/drawing/2014/main" id="{255EDB97-35CF-4075-A068-B1F477B2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‫פותחים חלופות‬</a:t>
            </a:r>
          </a:p>
        </p:txBody>
      </p:sp>
      <p:sp>
        <p:nvSpPr>
          <p:cNvPr id="12" name="method-t-1">
            <a:extLst xmlns:a="http://schemas.openxmlformats.org/drawingml/2006/main">
              <a:ext uri="{FF2B5EF4-FFF2-40B4-BE49-F238E27FC236}">
                <a16:creationId xmlns:a16="http://schemas.microsoft.com/office/drawing/2014/main" id="{D24D30CC-7A12-4265-A5EF-51DCD1B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Innovation + STORM</a:t>
            </a:r>
          </a:p>
        </p:txBody>
      </p:sp>
      <p:sp>
        <p:nvSpPr>
          <p:cNvPr id="13" name="method-b-1">
            <a:extLst xmlns:a="http://schemas.openxmlformats.org/drawingml/2006/main">
              <a:ext uri="{FF2B5EF4-FFF2-40B4-BE49-F238E27FC236}">
                <a16:creationId xmlns:a16="http://schemas.microsoft.com/office/drawing/2014/main" id="{44D81796-F638-4501-829D-8ECCA50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234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‫לא קופצים לפתרון הראשון.‬</a:t>
            </a:r>
          </a:p>
        </p:txBody>
      </p:sp>
      <p:sp>
        <p:nvSpPr>
          <p:cNvPr id="14" name="method-dot-2">
            <a:extLst xmlns:a="http://schemas.openxmlformats.org/drawingml/2006/main">
              <a:ext uri="{FF2B5EF4-FFF2-40B4-BE49-F238E27FC236}">
                <a16:creationId xmlns:a16="http://schemas.microsoft.com/office/drawing/2014/main" id="{E1BD05D3-5A6A-4C88-8224-C01C731E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hod-v-2">
            <a:extLst xmlns:a="http://schemas.openxmlformats.org/drawingml/2006/main">
              <a:ext uri="{FF2B5EF4-FFF2-40B4-BE49-F238E27FC236}">
                <a16:creationId xmlns:a16="http://schemas.microsoft.com/office/drawing/2014/main" id="{4E36161B-FD4E-4C88-8AA5-58A6871C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‫מאתגרים‬</a:t>
            </a:r>
          </a:p>
        </p:txBody>
      </p:sp>
      <p:sp>
        <p:nvSpPr>
          <p:cNvPr id="16" name="method-t-2">
            <a:extLst xmlns:a="http://schemas.openxmlformats.org/drawingml/2006/main">
              <a:ext uri="{FF2B5EF4-FFF2-40B4-BE49-F238E27FC236}">
                <a16:creationId xmlns:a16="http://schemas.microsoft.com/office/drawing/2014/main" id="{F93A565A-2C35-455A-8913-F92D8D5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17" name="method-b-2">
            <a:extLst xmlns:a="http://schemas.openxmlformats.org/drawingml/2006/main">
              <a:ext uri="{FF2B5EF4-FFF2-40B4-BE49-F238E27FC236}">
                <a16:creationId xmlns:a16="http://schemas.microsoft.com/office/drawing/2014/main" id="{AE4275A7-712F-4AE2-B6C1-055384E0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234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‫בודקים כשל, פרטיות ושליטה.‬</a:t>
            </a:r>
          </a:p>
        </p:txBody>
      </p:sp>
      <p:sp>
        <p:nvSpPr>
          <p:cNvPr id="18" name="method-dot-3">
            <a:extLst xmlns:a="http://schemas.openxmlformats.org/drawingml/2006/main">
              <a:ext uri="{FF2B5EF4-FFF2-40B4-BE49-F238E27FC236}">
                <a16:creationId xmlns:a16="http://schemas.microsoft.com/office/drawing/2014/main" id="{713B9EDC-A257-4D24-B14B-69E9F1D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33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hod-v-3">
            <a:extLst xmlns:a="http://schemas.openxmlformats.org/drawingml/2006/main">
              <a:ext uri="{FF2B5EF4-FFF2-40B4-BE49-F238E27FC236}">
                <a16:creationId xmlns:a16="http://schemas.microsoft.com/office/drawing/2014/main" id="{323DEFDE-D834-4C12-96F3-7E1DBF3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‫בונים ומודדים‬</a:t>
            </a:r>
          </a:p>
        </p:txBody>
      </p:sp>
      <p:sp>
        <p:nvSpPr>
          <p:cNvPr id="20" name="method-t-3">
            <a:extLst xmlns:a="http://schemas.openxmlformats.org/drawingml/2006/main">
              <a:ext uri="{FF2B5EF4-FFF2-40B4-BE49-F238E27FC236}">
                <a16:creationId xmlns:a16="http://schemas.microsoft.com/office/drawing/2014/main" id="{E20FB23C-7E4C-4217-83BA-4D5882DC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Audit Toolkit</a:t>
            </a:r>
          </a:p>
        </p:txBody>
      </p:sp>
      <p:sp>
        <p:nvSpPr>
          <p:cNvPr id="21" name="method-b-3">
            <a:extLst xmlns:a="http://schemas.openxmlformats.org/drawingml/2006/main">
              <a:ext uri="{FF2B5EF4-FFF2-40B4-BE49-F238E27FC236}">
                <a16:creationId xmlns:a16="http://schemas.microsoft.com/office/drawing/2014/main" id="{0080AFC0-C6FD-4152-92E1-56F8946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34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7E"/>
                </a:solidFill>
                <a:latin typeface="Arial"/>
                <a:ea typeface="Arial"/>
                <a:cs typeface="Arial"/>
              </a:rPr>
              <a:t>‫פתרון ראשון וקו בסיס.‬</a:t>
            </a:r>
          </a:p>
        </p:txBody>
      </p:sp>
      <p:sp>
        <p:nvSpPr>
          <p:cNvPr id="22" name="method-close">
            <a:extLst xmlns:a="http://schemas.openxmlformats.org/drawingml/2006/main">
              <a:ext uri="{FF2B5EF4-FFF2-40B4-BE49-F238E27FC236}">
                <a16:creationId xmlns:a16="http://schemas.microsoft.com/office/drawing/2014/main" id="{B4AE5AAF-767A-4D90-9A7A-8F9868A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‫הלקוח קונה תוצאה. כלי החשיבה נשארים מאחורי הקלעים.‬</a:t>
            </a:r>
          </a:p>
        </p:txBody>
      </p:sp>
    </p:spTree>
    <p:extLst>
      <p:ext uri="{BB962C8B-B14F-4D97-AF65-F5344CB8AC3E}">
        <p14:creationId xmlns:p14="http://schemas.microsoft.com/office/powerpoint/2010/main" val="15305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9">
            <a:extLst xmlns:a="http://schemas.openxmlformats.org/drawingml/2006/main">
              <a:ext uri="{FF2B5EF4-FFF2-40B4-BE49-F238E27FC236}">
                <a16:creationId xmlns:a16="http://schemas.microsoft.com/office/drawing/2014/main" id="{26DA4B47-4893-4BA0-93BD-84D5325B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EAEE241-0A4D-41F1-A638-10ECFF42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"/>
            <a:ext cx="807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‫השיחה הראשונה נועדה לבחור תהליך‬</a:t>
            </a:r>
          </a:p>
        </p:txBody>
      </p:sp>
      <p:sp>
        <p:nvSpPr>
          <p:cNvPr id="3" name="rule-72-132">
            <a:extLst xmlns:a="http://schemas.openxmlformats.org/drawingml/2006/main">
              <a:ext uri="{FF2B5EF4-FFF2-40B4-BE49-F238E27FC236}">
                <a16:creationId xmlns:a16="http://schemas.microsoft.com/office/drawing/2014/main" id="{45306C1E-2582-4468-A5EA-6DF0A3D6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FDC8A95C-EAB8-4335-94FA-40460CBF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D7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D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call-number">
            <a:extLst xmlns:a="http://schemas.openxmlformats.org/drawingml/2006/main">
              <a:ext uri="{FF2B5EF4-FFF2-40B4-BE49-F238E27FC236}">
                <a16:creationId xmlns:a16="http://schemas.microsoft.com/office/drawing/2014/main" id="{BD4CDC1A-3976-45CD-893F-432749DF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52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30–45</a:t>
            </a:r>
          </a:p>
        </p:txBody>
      </p:sp>
      <p:sp>
        <p:nvSpPr>
          <p:cNvPr id="6" name="call-minutes">
            <a:extLst xmlns:a="http://schemas.openxmlformats.org/drawingml/2006/main">
              <a:ext uri="{FF2B5EF4-FFF2-40B4-BE49-F238E27FC236}">
                <a16:creationId xmlns:a16="http://schemas.microsoft.com/office/drawing/2014/main" id="{75900240-93E8-4987-9F69-C37D873A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‫דקות · ללא עלות‬</a:t>
            </a:r>
          </a:p>
        </p:txBody>
      </p:sp>
      <p:sp>
        <p:nvSpPr>
          <p:cNvPr id="7" name="call-question">
            <a:extLst xmlns:a="http://schemas.openxmlformats.org/drawingml/2006/main">
              <a:ext uri="{FF2B5EF4-FFF2-40B4-BE49-F238E27FC236}">
                <a16:creationId xmlns:a16="http://schemas.microsoft.com/office/drawing/2014/main" id="{6EF37320-80A2-4EC0-A974-C35C687C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6743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‫בשיחה אנחנו לא בוחרים כלי. אנחנו בוחרים תהליך ששווה לבדוק.‬</a:t>
            </a:r>
          </a:p>
        </p:txBody>
      </p:sp>
      <p:sp>
        <p:nvSpPr>
          <p:cNvPr id="8" name="rule-72-374">
            <a:extLst xmlns:a="http://schemas.openxmlformats.org/drawingml/2006/main">
              <a:ext uri="{FF2B5EF4-FFF2-40B4-BE49-F238E27FC236}">
                <a16:creationId xmlns:a16="http://schemas.microsoft.com/office/drawing/2014/main" id="{A31F807A-150F-49A0-B58D-5CE496D6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0">
            <a:extLst xmlns:a="http://schemas.openxmlformats.org/drawingml/2006/main">
              <a:ext uri="{FF2B5EF4-FFF2-40B4-BE49-F238E27FC236}">
                <a16:creationId xmlns:a16="http://schemas.microsoft.com/office/drawing/2014/main" id="{AFC960DA-3D72-41D7-A005-23D68F03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‫1.  מה חוזר על עצמו?‬</a:t>
            </a:r>
          </a:p>
        </p:txBody>
      </p:sp>
      <p:sp>
        <p:nvSpPr>
          <p:cNvPr id="10" name="q-1">
            <a:extLst xmlns:a="http://schemas.openxmlformats.org/drawingml/2006/main">
              <a:ext uri="{FF2B5EF4-FFF2-40B4-BE49-F238E27FC236}">
                <a16:creationId xmlns:a16="http://schemas.microsoft.com/office/drawing/2014/main" id="{09E5E7B7-9FA3-47D7-A170-95EE8637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3387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‫2.  איפה העבודה נתקעת?‬</a:t>
            </a:r>
          </a:p>
        </p:txBody>
      </p:sp>
      <p:sp>
        <p:nvSpPr>
          <p:cNvPr id="11" name="q-2">
            <a:extLst xmlns:a="http://schemas.openxmlformats.org/drawingml/2006/main">
              <a:ext uri="{FF2B5EF4-FFF2-40B4-BE49-F238E27FC236}">
                <a16:creationId xmlns:a16="http://schemas.microsoft.com/office/drawing/2014/main" id="{066CCA9B-A5F4-4CCF-9572-9DD071B3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‫3.  איזה מידע רגיש מעורב?‬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F99E7A76-A938-44D1-8B71-5662A5A5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911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‫4.  מי אחראי על התוצאה?‬</a:t>
            </a:r>
          </a:p>
        </p:txBody>
      </p:sp>
      <p:sp>
        <p:nvSpPr>
          <p:cNvPr id="13" name="q-4">
            <a:extLst xmlns:a="http://schemas.openxmlformats.org/drawingml/2006/main">
              <a:ext uri="{FF2B5EF4-FFF2-40B4-BE49-F238E27FC236}">
                <a16:creationId xmlns:a16="http://schemas.microsoft.com/office/drawing/2014/main" id="{53A808EC-AC1E-4C0A-91C4-C30572D0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197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9"/>
                </a:solidFill>
                <a:latin typeface="Arial"/>
                <a:ea typeface="Arial"/>
                <a:cs typeface="Arial"/>
              </a:rPr>
              <a:t>‫5.  איך נדע שהשתפרנו?‬</a:t>
            </a:r>
          </a:p>
        </p:txBody>
      </p:sp>
      <p:sp>
        <p:nvSpPr>
          <p:cNvPr id="14" name="call-outcome">
            <a:extLst xmlns:a="http://schemas.openxmlformats.org/drawingml/2006/main">
              <a:ext uri="{FF2B5EF4-FFF2-40B4-BE49-F238E27FC236}">
                <a16:creationId xmlns:a16="http://schemas.microsoft.com/office/drawing/2014/main" id="{069C70BD-4AB4-4ACA-B7CD-FDC34CC5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ll-outcome-label">
            <a:extLst xmlns:a="http://schemas.openxmlformats.org/drawingml/2006/main">
              <a:ext uri="{FF2B5EF4-FFF2-40B4-BE49-F238E27FC236}">
                <a16:creationId xmlns:a16="http://schemas.microsoft.com/office/drawing/2014/main" id="{1E14B967-65F9-4D25-817F-11B10A52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‫יוצאים עם אחת משלוש תשובות‬</a:t>
            </a:r>
          </a:p>
        </p:txBody>
      </p:sp>
      <p:sp>
        <p:nvSpPr>
          <p:cNvPr id="16" name="call-outcome-text">
            <a:extLst xmlns:a="http://schemas.openxmlformats.org/drawingml/2006/main">
              <a:ext uri="{FF2B5EF4-FFF2-40B4-BE49-F238E27FC236}">
                <a16:creationId xmlns:a16="http://schemas.microsoft.com/office/drawing/2014/main" id="{E2977116-B0AA-43EF-82D4-BDBF7DF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114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‫יש תהליך לספרינט</a:t>
            </a:r>
          </a:p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חסר פרט אחד לבדיקה</a:t>
            </a:r>
          </a:p>
          <a:p xmlns:a="http://schemas.openxmlformats.org/drawingml/2006/main">
            <a:pPr algn="r">
              <a:defRPr sz="2100" b="1">
                <a:solidFill>
                  <a:srgbClr val="0B17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729"/>
                </a:solidFill>
                <a:latin typeface="Arial"/>
                <a:ea typeface="Arial"/>
                <a:cs typeface="Arial"/>
              </a:rPr>
              <a:t>אין התאמה כרגע‬</a:t>
            </a:r>
          </a:p>
        </p:txBody>
      </p:sp>
    </p:spTree>
    <p:extLst>
      <p:ext uri="{BB962C8B-B14F-4D97-AF65-F5344CB8AC3E}">
        <p14:creationId xmlns:p14="http://schemas.microsoft.com/office/powerpoint/2010/main" val="9506992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ext-eyebrow">
            <a:extLst xmlns:a="http://schemas.openxmlformats.org/drawingml/2006/main">
              <a:ext uri="{FF2B5EF4-FFF2-40B4-BE49-F238E27FC236}">
                <a16:creationId xmlns:a16="http://schemas.microsoft.com/office/drawing/2014/main" id="{12288C54-5C4D-423F-BC67-587F8787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‫הצעד הבא‬</a:t>
            </a:r>
          </a:p>
        </p:txBody>
      </p:sp>
      <p:sp>
        <p:nvSpPr>
          <p:cNvPr id="2" name="next-title">
            <a:extLst xmlns:a="http://schemas.openxmlformats.org/drawingml/2006/main">
              <a:ext uri="{FF2B5EF4-FFF2-40B4-BE49-F238E27FC236}">
                <a16:creationId xmlns:a16="http://schemas.microsoft.com/office/drawing/2014/main" id="{B0755E63-BF52-4CF9-9307-6E91518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57300"/>
            <a:ext cx="8553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‫תביאו תהליך אחד שמכביד על הצוות‬</a:t>
            </a:r>
          </a:p>
        </p:txBody>
      </p:sp>
      <p:sp>
        <p:nvSpPr>
          <p:cNvPr id="3" name="next-subtitle">
            <a:extLst xmlns:a="http://schemas.openxmlformats.org/drawingml/2006/main">
              <a:ext uri="{FF2B5EF4-FFF2-40B4-BE49-F238E27FC236}">
                <a16:creationId xmlns:a16="http://schemas.microsoft.com/office/drawing/2014/main" id="{44C3EC00-81C4-4FCF-8D36-05E8DAA6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74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C8D6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8D6E5"/>
                </a:solidFill>
                <a:latin typeface="Arial"/>
                <a:ea typeface="Arial"/>
                <a:cs typeface="Arial"/>
              </a:rPr>
              <a:t>‫בשיחה נחליט אם הוא מתאים לספרינט — או שנגיד בכנות שלא.‬</a:t>
            </a:r>
          </a:p>
        </p:txBody>
      </p:sp>
      <p:sp>
        <p:nvSpPr>
          <p:cNvPr id="4" name="rule-72-390">
            <a:extLst xmlns:a="http://schemas.openxmlformats.org/drawingml/2006/main">
              <a:ext uri="{FF2B5EF4-FFF2-40B4-BE49-F238E27FC236}">
                <a16:creationId xmlns:a16="http://schemas.microsoft.com/office/drawing/2014/main" id="{1B7965E8-2CA9-42A5-AB41-F2904E1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ext-contact-title">
            <a:extLst xmlns:a="http://schemas.openxmlformats.org/drawingml/2006/main">
              <a:ext uri="{FF2B5EF4-FFF2-40B4-BE49-F238E27FC236}">
                <a16:creationId xmlns:a16="http://schemas.microsoft.com/office/drawing/2014/main" id="{4D6C9B29-F3EC-49E2-9D14-77C1305E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‫לקביעת שיחת התאמה‬</a:t>
            </a:r>
          </a:p>
        </p:txBody>
      </p:sp>
      <p:sp>
        <p:nvSpPr>
          <p:cNvPr id="6" name="next-contact">
            <a:extLst xmlns:a="http://schemas.openxmlformats.org/drawingml/2006/main">
              <a:ext uri="{FF2B5EF4-FFF2-40B4-BE49-F238E27FC236}">
                <a16:creationId xmlns:a16="http://schemas.microsoft.com/office/drawing/2014/main" id="{4D30FE93-5BA5-40D5-9140-4DB4200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48200"/>
            <a:ext cx="5505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WhatsApp  054-533-3773</a:t>
            </a:r>
          </a:p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nadav.yigal@gmail.com</a:t>
            </a:r>
          </a:p>
        </p:txBody>
      </p:sp>
      <p:sp>
        <p:nvSpPr>
          <p:cNvPr id="7" name="next-price">
            <a:extLst xmlns:a="http://schemas.openxmlformats.org/drawingml/2006/main">
              <a:ext uri="{FF2B5EF4-FFF2-40B4-BE49-F238E27FC236}">
                <a16:creationId xmlns:a16="http://schemas.microsoft.com/office/drawing/2014/main" id="{3F81322A-697F-4A37-BFFD-04A797A7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D6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D6E5"/>
                </a:solidFill>
                <a:latin typeface="Arial"/>
                <a:ea typeface="Arial"/>
                <a:cs typeface="Arial"/>
              </a:rPr>
              <a:t>‫המחיר נקבע אחרי שיחת ההתאמה, לפי התהליך והגישה הנדרשת.‬</a:t>
            </a:r>
          </a:p>
        </p:txBody>
      </p:sp>
      <p:sp>
        <p:nvSpPr>
          <p:cNvPr id="8" name="next-brand">
            <a:extLst xmlns:a="http://schemas.openxmlformats.org/drawingml/2006/main">
              <a:ext uri="{FF2B5EF4-FFF2-40B4-BE49-F238E27FC236}">
                <a16:creationId xmlns:a16="http://schemas.microsoft.com/office/drawing/2014/main" id="{48255F1A-FD7C-411C-8253-76FB83F2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NY AI SOLUTIONS</a:t>
            </a:r>
          </a:p>
        </p:txBody>
      </p:sp>
    </p:spTree>
    <p:extLst>
      <p:ext uri="{BB962C8B-B14F-4D97-AF65-F5344CB8AC3E}">
        <p14:creationId xmlns:p14="http://schemas.microsoft.com/office/powerpoint/2010/main" val="1056483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2026-08-30T11:58:37.9520000Z</dcterms:created>
  <dcterms:modified xsi:type="dcterms:W3CDTF">2026-08-30T11:58:37.9520000Z</dcterms:modified>
</coreProperties>
</file>