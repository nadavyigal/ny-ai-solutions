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8629903a56494c" /><Relationship Type="http://schemas.openxmlformats.org/officeDocument/2006/relationships/extended-properties" Target="/docProps/app.xml" Id="R39ae79d86dca434a" /><Relationship Type="http://schemas.openxmlformats.org/officeDocument/2006/relationships/officeDocument" Target="/ppt/presentation.xml" Id="Rb5305180595b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f046288f24d3c"/>
  </p:sldMasterIdLst>
  <p:notesMasterIdLst>
    <p:notesMasterId xmlns:r="http://schemas.openxmlformats.org/officeDocument/2006/relationships" r:id="Rd7ac7d106cf04e09"/>
  </p:notesMasterIdLst>
  <p:sldIdLst>
    <p:sldId xmlns:r="http://schemas.openxmlformats.org/officeDocument/2006/relationships" id="256" r:id="R8bdcec871db348a1"/>
    <p:sldId xmlns:r="http://schemas.openxmlformats.org/officeDocument/2006/relationships" id="257" r:id="R075ae087c5f543eb"/>
    <p:sldId xmlns:r="http://schemas.openxmlformats.org/officeDocument/2006/relationships" id="258" r:id="Ra7092a5addd54f08"/>
    <p:sldId xmlns:r="http://schemas.openxmlformats.org/officeDocument/2006/relationships" id="259" r:id="Rb384d5e3cb084308"/>
    <p:sldId xmlns:r="http://schemas.openxmlformats.org/officeDocument/2006/relationships" id="260" r:id="R26d93adef89a4ee3"/>
    <p:sldId xmlns:r="http://schemas.openxmlformats.org/officeDocument/2006/relationships" id="261" r:id="R70ab3a5188244800"/>
    <p:sldId xmlns:r="http://schemas.openxmlformats.org/officeDocument/2006/relationships" id="262" r:id="R68b51269446347d0"/>
    <p:sldId xmlns:r="http://schemas.openxmlformats.org/officeDocument/2006/relationships" id="263" r:id="R14fb6bbe9b7c4379"/>
    <p:sldId xmlns:r="http://schemas.openxmlformats.org/officeDocument/2006/relationships" id="264" r:id="Rc1c21c073ec8478a"/>
    <p:sldId xmlns:r="http://schemas.openxmlformats.org/officeDocument/2006/relationships" id="265" r:id="R4e35b87132a64c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7a17cb1b7c4d09" /><Relationship Type="http://schemas.openxmlformats.org/officeDocument/2006/relationships/slideMaster" Target="/ppt/slideMasters/slideMaster1.xml" Id="R1e8f046288f24d3c" /><Relationship Type="http://schemas.openxmlformats.org/officeDocument/2006/relationships/notesMaster" Target="/ppt/notesMasters/notesMaster1.xml" Id="Rd7ac7d106cf04e09" /><Relationship Type="http://schemas.openxmlformats.org/officeDocument/2006/relationships/presProps" Target="/ppt/presProps.xml" Id="R70ce731a0e9441be" /><Relationship Type="http://schemas.openxmlformats.org/officeDocument/2006/relationships/tableStyles" Target="/ppt/tableStyles.xml" Id="Rb40c763b2ab746c3" /><Relationship Type="http://schemas.openxmlformats.org/officeDocument/2006/relationships/slide" Target="/ppt/slides/slide1.xml" Id="R8bdcec871db348a1" /><Relationship Type="http://schemas.openxmlformats.org/officeDocument/2006/relationships/slide" Target="/ppt/slides/slide2.xml" Id="R075ae087c5f543eb" /><Relationship Type="http://schemas.openxmlformats.org/officeDocument/2006/relationships/slide" Target="/ppt/slides/slide3.xml" Id="Ra7092a5addd54f08" /><Relationship Type="http://schemas.openxmlformats.org/officeDocument/2006/relationships/slide" Target="/ppt/slides/slide4.xml" Id="Rb384d5e3cb084308" /><Relationship Type="http://schemas.openxmlformats.org/officeDocument/2006/relationships/slide" Target="/ppt/slides/slide5.xml" Id="R26d93adef89a4ee3" /><Relationship Type="http://schemas.openxmlformats.org/officeDocument/2006/relationships/slide" Target="/ppt/slides/slide6.xml" Id="R70ab3a5188244800" /><Relationship Type="http://schemas.openxmlformats.org/officeDocument/2006/relationships/slide" Target="/ppt/slides/slide7.xml" Id="R68b51269446347d0" /><Relationship Type="http://schemas.openxmlformats.org/officeDocument/2006/relationships/slide" Target="/ppt/slides/slide8.xml" Id="R14fb6bbe9b7c4379" /><Relationship Type="http://schemas.openxmlformats.org/officeDocument/2006/relationships/slide" Target="/ppt/slides/slide9.xml" Id="Rc1c21c073ec8478a" /><Relationship Type="http://schemas.openxmlformats.org/officeDocument/2006/relationships/slide" Target="/ppt/slides/slide10.xml" Id="R4e35b87132a6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21bf962ea42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9adfdda8234a58" /><Relationship Type="http://schemas.openxmlformats.org/officeDocument/2006/relationships/notesMaster" Target="/ppt/notesMasters/notesMaster1.xml" Id="R5e5cce5acf0943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a4ea89f0174e88" /><Relationship Type="http://schemas.openxmlformats.org/officeDocument/2006/relationships/notesMaster" Target="/ppt/notesMasters/notesMaster1.xml" Id="R79702a743783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4a740e3ce4309" /><Relationship Type="http://schemas.openxmlformats.org/officeDocument/2006/relationships/notesMaster" Target="/ppt/notesMasters/notesMaster1.xml" Id="R23d759a0c70b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7ebba7ccc4a4e" /><Relationship Type="http://schemas.openxmlformats.org/officeDocument/2006/relationships/notesMaster" Target="/ppt/notesMasters/notesMaster1.xml" Id="R012e276f8ecd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19c40f1e44f5d" /><Relationship Type="http://schemas.openxmlformats.org/officeDocument/2006/relationships/notesMaster" Target="/ppt/notesMasters/notesMaster1.xml" Id="Rf1ad155f56e742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742f1e01d438c" /><Relationship Type="http://schemas.openxmlformats.org/officeDocument/2006/relationships/notesMaster" Target="/ppt/notesMasters/notesMaster1.xml" Id="Rbd8ae899f4b2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b4bb98c014569" /><Relationship Type="http://schemas.openxmlformats.org/officeDocument/2006/relationships/notesMaster" Target="/ppt/notesMasters/notesMaster1.xml" Id="R872ac765581748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c99fee5e324ff2" /><Relationship Type="http://schemas.openxmlformats.org/officeDocument/2006/relationships/notesMaster" Target="/ppt/notesMasters/notesMaster1.xml" Id="R5f3f61f4a798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10d9eeb4074723" /><Relationship Type="http://schemas.openxmlformats.org/officeDocument/2006/relationships/notesMaster" Target="/ppt/notesMasters/notesMaster1.xml" Id="R66aa8a6caa4c45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0ecd1c6e854507" /><Relationship Type="http://schemas.openxmlformats.org/officeDocument/2006/relationships/notesMaster" Target="/ppt/notesMasters/notesMaster1.xml" Id="R1aa90b6bed06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פתיחה: אנחנו לא מתחילים מכלי AI. אנחנו מתחילים מתהליך עסקי אחד שחוזר על עצמו, בודקים איפה יש ערך אמיתי, ואז בונים ומטמיעים פתרון קטן ומדיד.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שאלת מעבר ללקוח: איפה אתם מרגישים את זה היום — בעומס הידני, בכלים שכבר נקנו ולא אומצו, או בחשש ממידע רגיש? תן להם לבחור ולהתחיל לדבר.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docs/site/landing-page-plan.md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הצג את שלושת כללי העבודה. אל תמכור 'טרנספורמציית AI'. ההצעה היא תהליך אחד, בתוך הכלים הקיימים כשזה נכון, עם נתיב פרטיות ברור.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שקף החיבור החשוב. Audit Toolkit הוא שלד ההתקשרות. Innovation ו־STORM מופעלים כשצריך לפתוח את מרחב הפתרונות. Red Team מופעל לפני התחייבות לבנייה. אלה כלים פנימיים, לא ארבעה שירותים נפרדים.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- Nadav Builder OS/02-Products/AI-Advisory/2026-08-11-ny-ai-consulting-launch.md</a:t>
            </a:r>
          </a:p>
          <a:p xmlns:a="http://schemas.openxmlformats.org/drawingml/2006/main">
            <a:r>
              <a:t>- Nadav Builder OS/01-Agentic-OS/Workflows/IDEATION v0.2.md</a:t>
            </a:r>
          </a:p>
          <a:p xmlns:a="http://schemas.openxmlformats.org/drawingml/2006/main">
            <a:r>
              <a:t>- Nadav Builder OS/04-Prompts/Claude/thinking-tools-guide.md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אל תציג את הספרייה של שש התבניות. הצג שלוש תנועות שקל לזכור: מגלים, מחליטים, בונים. אם שואלים לפרטים, הסבר שה־Audit Toolkit מפעיל שישה צעדים מלאים מאינטייק ועד הטמעה.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שקף המוצר. עבר עליו לאט. הדגש שה־Quick Win נבנה בתוך הספרינט, ושגם רשימת 'לא לגעת' היא תוצר חיובי כשהתהליך הקיים טוב.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הסבר את כלל הכינויים. אם הלקוח מעלה דרישת רגולציה, אל תטען להסמכה: תגיד שהארכיטקטורה מצמצמת חשיפה ושבדיקה משפטית/ציות נשארת אצל בעלי המקצוע של הלקוח.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docs/clients/2026-08-30-michal-engagement-retro.md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הצג את ההוכחה בכנות. המוצרים מוכיחים יכולת בנייה; ההתקשרות האנונימית מוכיחה את השיטה. היא לא מוכיחה עדיין נכונות לשלם או אימוץ בצוות של 10–100 עובדים.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docs/clients/2026-08-30-michal-engagement-retro.md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המבנה למחר. אל תנסה לאבחן את כל העסק ואל תציג את כל המתודולוגיה בתחילת השיחה. שאל, הקשב, וחפש תהליך אחד עם חזרתיות, כאב, בעלים ונתיב מידע ברור.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docs/toolkit/01-intake.md</a:t>
            </a:r>
          </a:p>
          <a:p xmlns:a="http://schemas.openxmlformats.org/drawingml/2006/main">
            <a:r>
              <a:t>- docs/gtm/fit-call-log.md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סגירה: אם זה נשמע רלוונטי, אני אשלח סיכום קצר של התהליך שמיפינו ומה נצטרך לראות כדי להציע Sprint. אין התחייבות בשיחה הזאת.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76659db0f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2f2a9bde8b4702" /><Relationship Type="http://schemas.openxmlformats.org/officeDocument/2006/relationships/slideLayout" Target="/ppt/slideLayouts/slideLayout1.xml" Id="Rdc129a58dc08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129a58dc08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35201d0148ec" /><Relationship Type="http://schemas.openxmlformats.org/officeDocument/2006/relationships/image" Target="/ppt/media/image.png" Id="R9930c091013346fd" /><Relationship Type="http://schemas.openxmlformats.org/officeDocument/2006/relationships/notesSlide" Target="/ppt/notesSlides/notesSlide1.xml" Id="R8ab9f0246c4b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5629fa0f0422d" /><Relationship Type="http://schemas.openxmlformats.org/officeDocument/2006/relationships/notesSlide" Target="/ppt/notesSlides/notesSlide2.xml" Id="Rc9d183950911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93c76f9344020" /><Relationship Type="http://schemas.openxmlformats.org/officeDocument/2006/relationships/notesSlide" Target="/ppt/notesSlides/notesSlide3.xml" Id="R6cf60ea7a422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6162ac8e04282" /><Relationship Type="http://schemas.openxmlformats.org/officeDocument/2006/relationships/notesSlide" Target="/ppt/notesSlides/notesSlide4.xml" Id="R9e029b631ba7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cc91285e340d2" /><Relationship Type="http://schemas.openxmlformats.org/officeDocument/2006/relationships/notesSlide" Target="/ppt/notesSlides/notesSlide5.xml" Id="Rd5e81623f19d4d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40bf900d7431f" /><Relationship Type="http://schemas.openxmlformats.org/officeDocument/2006/relationships/notesSlide" Target="/ppt/notesSlides/notesSlide6.xml" Id="Rf22d9a88657e42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d95a7b064023" /><Relationship Type="http://schemas.openxmlformats.org/officeDocument/2006/relationships/notesSlide" Target="/ppt/notesSlides/notesSlide7.xml" Id="R20430228f6ff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802a47fb94865" /><Relationship Type="http://schemas.openxmlformats.org/officeDocument/2006/relationships/image" Target="/ppt/media/image2.png" Id="Rf6fa234e65874451" /><Relationship Type="http://schemas.openxmlformats.org/officeDocument/2006/relationships/image" Target="/ppt/media/image3.png" Id="R4c9789e629f64646" /><Relationship Type="http://schemas.openxmlformats.org/officeDocument/2006/relationships/notesSlide" Target="/ppt/notesSlides/notesSlide8.xml" Id="Rbb6eba0f6bd944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c9f703dae47eb" /><Relationship Type="http://schemas.openxmlformats.org/officeDocument/2006/relationships/notesSlide" Target="/ppt/notesSlides/notesSlide9.xml" Id="R58fe237714fe4d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db575b68f465f" /><Relationship Type="http://schemas.openxmlformats.org/officeDocument/2006/relationships/notesSlide" Target="/ppt/notesSlides/notesSlide10.xml" Id="R0e7b7e69ec44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label">
            <a:extLst xmlns:a="http://schemas.openxmlformats.org/drawingml/2006/main">
              <a:ext uri="{FF2B5EF4-FFF2-40B4-BE49-F238E27FC236}">
                <a16:creationId xmlns:a16="http://schemas.microsoft.com/office/drawing/2014/main" id="{AAAADD0B-4485-4F35-83F9-FC3FC9CB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63A43B6-E010-42B1-9793-CD8EACE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‫בינה מלאכותית שעובדת בעסק‬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0838C6E-65B0-404D-9E31-D9ACD7A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‫ממפים תהליך אמיתי, בוחנים את האפשרויות והסיכונים, ובונים פתרון אחד שעובד.‬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D66145A-93D6-4C1C-8F4E-06980C4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20955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0c091013346fd"/>
          <a:stretch xmlns:a="http://schemas.openxmlformats.org/drawingml/2006/main"/>
        </p:blipFill>
        <p:spPr>
          <a:xfrm xmlns:a="http://schemas.openxmlformats.org/drawingml/2006/main">
            <a:off x="9810750" y="21431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707CE98-598D-4754-A7B0-9C2EA5B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‫ספרינט ערך · 7–10 ימי עסקים‬</a:t>
            </a:r>
          </a:p>
        </p:txBody>
      </p:sp>
    </p:spTree>
    <p:extLst>
      <p:ext uri="{BB962C8B-B14F-4D97-AF65-F5344CB8AC3E}">
        <p14:creationId xmlns:p14="http://schemas.microsoft.com/office/powerpoint/2010/main" val="1025930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62DA13C-B657-40E5-A49A-6C3138D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‫לעבודה חסר חיבור — לא חסרים כלים‬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C71C46E-2943-41BA-8480-9E5FB9A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8E8904ED-4DB3-4E6C-853A-307027F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‫רוב העסקים כבר משלמים על כלי בינה מלאכותית. הערך נשאר נמוך כשהשימוש נעצר בכתיבת מיילים ולא נכנס לתהליך האמיתי.‬</a:t>
            </a:r>
          </a:p>
        </p:txBody>
      </p:sp>
      <p:sp>
        <p:nvSpPr>
          <p:cNvPr id="4" name="problem-0-n">
            <a:extLst xmlns:a="http://schemas.openxmlformats.org/drawingml/2006/main">
              <a:ext uri="{FF2B5EF4-FFF2-40B4-BE49-F238E27FC236}">
                <a16:creationId xmlns:a16="http://schemas.microsoft.com/office/drawing/2014/main" id="{B5DE5ED2-D93E-4560-8332-4282286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813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roblem-0-heading">
            <a:extLst xmlns:a="http://schemas.openxmlformats.org/drawingml/2006/main">
              <a:ext uri="{FF2B5EF4-FFF2-40B4-BE49-F238E27FC236}">
                <a16:creationId xmlns:a16="http://schemas.microsoft.com/office/drawing/2014/main" id="{82866EC2-0D51-4DF6-8B43-40FA92E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‫עבודה ידנית‬</a:t>
            </a:r>
          </a:p>
        </p:txBody>
      </p:sp>
      <p:sp>
        <p:nvSpPr>
          <p:cNvPr id="6" name="problem-0-body">
            <a:extLst xmlns:a="http://schemas.openxmlformats.org/drawingml/2006/main">
              <a:ext uri="{FF2B5EF4-FFF2-40B4-BE49-F238E27FC236}">
                <a16:creationId xmlns:a16="http://schemas.microsoft.com/office/drawing/2014/main" id="{E21BD2DB-B2E8-4CC0-9109-2E99674B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‫משימות חוזרות, העתקות ומעקבים נשארים אצל האנשים.‬</a:t>
            </a:r>
          </a:p>
        </p:txBody>
      </p:sp>
      <p:sp>
        <p:nvSpPr>
          <p:cNvPr id="7" name="problem-0-rule">
            <a:extLst xmlns:a="http://schemas.openxmlformats.org/drawingml/2006/main">
              <a:ext uri="{FF2B5EF4-FFF2-40B4-BE49-F238E27FC236}">
                <a16:creationId xmlns:a16="http://schemas.microsoft.com/office/drawing/2014/main" id="{BB687199-993F-4D31-8AC3-D6D4203E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">
            <a:extLst xmlns:a="http://schemas.openxmlformats.org/drawingml/2006/main">
              <a:ext uri="{FF2B5EF4-FFF2-40B4-BE49-F238E27FC236}">
                <a16:creationId xmlns:a16="http://schemas.microsoft.com/office/drawing/2014/main" id="{81441E88-AFDB-46C9-BC34-B3540F7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48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F6777B5D-AE35-4611-89C2-FB4EE2CA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‫בחירת כלים‬</a:t>
            </a:r>
          </a:p>
        </p:txBody>
      </p:sp>
      <p:sp>
        <p:nvSpPr>
          <p:cNvPr id="10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40DB70CF-BBC3-40B0-A056-32BF488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‫עוד מערכת נרכשת לפני שמבינים מה צריך להשתנות.‬</a:t>
            </a:r>
          </a:p>
        </p:txBody>
      </p:sp>
      <p:sp>
        <p:nvSpPr>
          <p:cNvPr id="11" name="problem-1-rule">
            <a:extLst xmlns:a="http://schemas.openxmlformats.org/drawingml/2006/main">
              <a:ext uri="{FF2B5EF4-FFF2-40B4-BE49-F238E27FC236}">
                <a16:creationId xmlns:a16="http://schemas.microsoft.com/office/drawing/2014/main" id="{6D032607-56E2-4C0D-A7FF-84F7EA7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2-n">
            <a:extLst xmlns:a="http://schemas.openxmlformats.org/drawingml/2006/main">
              <a:ext uri="{FF2B5EF4-FFF2-40B4-BE49-F238E27FC236}">
                <a16:creationId xmlns:a16="http://schemas.microsoft.com/office/drawing/2014/main" id="{B2203179-6B86-4436-9AA0-543E12D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14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D6EFB930-FEDC-4A76-9477-95CCBB9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‫סיכון מידע‬</a:t>
            </a:r>
          </a:p>
        </p:txBody>
      </p:sp>
      <p:sp>
        <p:nvSpPr>
          <p:cNvPr id="14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8F53CF6C-03DC-4A63-BF9E-9826B21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‫אף אחד לא יכול להסביר בביטחון איפה נתוני הלקוח עוברים.‬</a:t>
            </a:r>
          </a:p>
        </p:txBody>
      </p:sp>
      <p:sp>
        <p:nvSpPr>
          <p:cNvPr id="15" name="problem-2-rule">
            <a:extLst xmlns:a="http://schemas.openxmlformats.org/drawingml/2006/main">
              <a:ext uri="{FF2B5EF4-FFF2-40B4-BE49-F238E27FC236}">
                <a16:creationId xmlns:a16="http://schemas.microsoft.com/office/drawing/2014/main" id="{B4307E5D-63FF-42FB-8E37-C7CACDA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6479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romise-label">
            <a:extLst xmlns:a="http://schemas.openxmlformats.org/drawingml/2006/main">
              <a:ext uri="{FF2B5EF4-FFF2-40B4-BE49-F238E27FC236}">
                <a16:creationId xmlns:a16="http://schemas.microsoft.com/office/drawing/2014/main" id="{0459D7C1-0D7E-4E39-87ED-343EB6E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‫ההבטחה‬</a:t>
            </a:r>
          </a:p>
        </p:txBody>
      </p:sp>
      <p:sp>
        <p:nvSpPr>
          <p:cNvPr id="2" name="promise-title">
            <a:extLst xmlns:a="http://schemas.openxmlformats.org/drawingml/2006/main">
              <a:ext uri="{FF2B5EF4-FFF2-40B4-BE49-F238E27FC236}">
                <a16:creationId xmlns:a16="http://schemas.microsoft.com/office/drawing/2014/main" id="{331B3EC8-3A66-4DB8-8BFD-BFBDF01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9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‫מוציאים יותר ערך מהכלים שכבר קניתם — בלי לאבד שליטה על מידע של לקוחות‬</a:t>
            </a:r>
          </a:p>
        </p:txBody>
      </p:sp>
      <p:sp>
        <p:nvSpPr>
          <p:cNvPr id="3" name="promise-panel">
            <a:extLst xmlns:a="http://schemas.openxmlformats.org/drawingml/2006/main">
              <a:ext uri="{FF2B5EF4-FFF2-40B4-BE49-F238E27FC236}">
                <a16:creationId xmlns:a16="http://schemas.microsoft.com/office/drawing/2014/main" id="{8306EE06-EDDC-4B9E-9619-D9465C0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5727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4" name="promise-0-heading">
            <a:extLst xmlns:a="http://schemas.openxmlformats.org/drawingml/2006/main">
              <a:ext uri="{FF2B5EF4-FFF2-40B4-BE49-F238E27FC236}">
                <a16:creationId xmlns:a16="http://schemas.microsoft.com/office/drawing/2014/main" id="{55D2DC22-3689-467E-9CBC-26FB615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‫קודם התהליך‬</a:t>
            </a:r>
          </a:p>
        </p:txBody>
      </p:sp>
      <p:sp>
        <p:nvSpPr>
          <p:cNvPr id="5" name="promise-0-body">
            <a:extLst xmlns:a="http://schemas.openxmlformats.org/drawingml/2006/main">
              <a:ext uri="{FF2B5EF4-FFF2-40B4-BE49-F238E27FC236}">
                <a16:creationId xmlns:a16="http://schemas.microsoft.com/office/drawing/2014/main" id="{F3BA005E-BF3D-49AA-A151-D628902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‫מבינים איך העבודה מתבצעת לפני שבוחרים טכנולוגיה.‬</a:t>
            </a:r>
          </a:p>
        </p:txBody>
      </p:sp>
      <p:sp>
        <p:nvSpPr>
          <p:cNvPr id="6" name="promise-1-heading">
            <a:extLst xmlns:a="http://schemas.openxmlformats.org/drawingml/2006/main">
              <a:ext uri="{FF2B5EF4-FFF2-40B4-BE49-F238E27FC236}">
                <a16:creationId xmlns:a16="http://schemas.microsoft.com/office/drawing/2014/main" id="{CAD3BDB4-9F6B-4A78-99B2-8D77B68A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‫קודם הקיים‬</a:t>
            </a:r>
          </a:p>
        </p:txBody>
      </p:sp>
      <p:sp>
        <p:nvSpPr>
          <p:cNvPr id="7" name="promise-1-body">
            <a:extLst xmlns:a="http://schemas.openxmlformats.org/drawingml/2006/main">
              <a:ext uri="{FF2B5EF4-FFF2-40B4-BE49-F238E27FC236}">
                <a16:creationId xmlns:a16="http://schemas.microsoft.com/office/drawing/2014/main" id="{6479D369-01E9-482E-B92C-EAA8BC5D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‫בודקים את המנויים והמערכות שכבר נמצאים בעסק.‬</a:t>
            </a:r>
          </a:p>
        </p:txBody>
      </p:sp>
      <p:sp>
        <p:nvSpPr>
          <p:cNvPr id="8" name="promise-2-heading">
            <a:extLst xmlns:a="http://schemas.openxmlformats.org/drawingml/2006/main">
              <a:ext uri="{FF2B5EF4-FFF2-40B4-BE49-F238E27FC236}">
                <a16:creationId xmlns:a16="http://schemas.microsoft.com/office/drawing/2014/main" id="{DD3C348D-AA66-4B2F-B56A-3CEF151F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57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‫קודם השליטה‬</a:t>
            </a:r>
          </a:p>
        </p:txBody>
      </p:sp>
      <p:sp>
        <p:nvSpPr>
          <p:cNvPr id="9" name="promise-2-body">
            <a:extLst xmlns:a="http://schemas.openxmlformats.org/drawingml/2006/main">
              <a:ext uri="{FF2B5EF4-FFF2-40B4-BE49-F238E27FC236}">
                <a16:creationId xmlns:a16="http://schemas.microsoft.com/office/drawing/2014/main" id="{14CD9470-331D-488E-A1AC-DD9E496F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‫מתכננים את נתיב המידע לפני שבונים אוטומציה.‬</a:t>
            </a:r>
          </a:p>
        </p:txBody>
      </p:sp>
    </p:spTree>
    <p:extLst>
      <p:ext uri="{BB962C8B-B14F-4D97-AF65-F5344CB8AC3E}">
        <p14:creationId xmlns:p14="http://schemas.microsoft.com/office/powerpoint/2010/main" val="42823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96F586B-4D83-4898-AA6A-6F7B3FD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‫שיטה אחת ללקוח; ארבעה מנועי חשיבה מאחורי הקלעים‬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50587F30-69EE-4ECA-AFF2-86389269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method-0-n">
            <a:extLst xmlns:a="http://schemas.openxmlformats.org/drawingml/2006/main">
              <a:ext uri="{FF2B5EF4-FFF2-40B4-BE49-F238E27FC236}">
                <a16:creationId xmlns:a16="http://schemas.microsoft.com/office/drawing/2014/main" id="{9C26044C-F5CE-4783-9560-C5297D6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66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method-0-title">
            <a:extLst xmlns:a="http://schemas.openxmlformats.org/drawingml/2006/main">
              <a:ext uri="{FF2B5EF4-FFF2-40B4-BE49-F238E27FC236}">
                <a16:creationId xmlns:a16="http://schemas.microsoft.com/office/drawing/2014/main" id="{3C77A038-3B69-4FA8-8952-540C39F1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‫מבינים‬</a:t>
            </a:r>
          </a:p>
        </p:txBody>
      </p:sp>
      <p:sp>
        <p:nvSpPr>
          <p:cNvPr id="5" name="method-0-rule">
            <a:extLst xmlns:a="http://schemas.openxmlformats.org/drawingml/2006/main">
              <a:ext uri="{FF2B5EF4-FFF2-40B4-BE49-F238E27FC236}">
                <a16:creationId xmlns:a16="http://schemas.microsoft.com/office/drawing/2014/main" id="{7D2ABA4B-7A63-4CEF-8274-C2F1C8F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0-engine">
            <a:extLst xmlns:a="http://schemas.openxmlformats.org/drawingml/2006/main">
              <a:ext uri="{FF2B5EF4-FFF2-40B4-BE49-F238E27FC236}">
                <a16:creationId xmlns:a16="http://schemas.microsoft.com/office/drawing/2014/main" id="{635DC77E-8BD2-4DBD-A689-63F8C5EC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Audit Toolkit</a:t>
            </a:r>
          </a:p>
        </p:txBody>
      </p:sp>
      <p:sp>
        <p:nvSpPr>
          <p:cNvPr id="7" name="method-0-body">
            <a:extLst xmlns:a="http://schemas.openxmlformats.org/drawingml/2006/main">
              <a:ext uri="{FF2B5EF4-FFF2-40B4-BE49-F238E27FC236}">
                <a16:creationId xmlns:a16="http://schemas.microsoft.com/office/drawing/2014/main" id="{478DD271-E7C8-44FC-A95C-A9ACC597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766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‫תהליך, אנשים, מערכות וקו בסיס‬</a:t>
            </a:r>
          </a:p>
        </p:txBody>
      </p:sp>
      <p:sp>
        <p:nvSpPr>
          <p:cNvPr id="8" name="method-1-n">
            <a:extLst xmlns:a="http://schemas.openxmlformats.org/drawingml/2006/main">
              <a:ext uri="{FF2B5EF4-FFF2-40B4-BE49-F238E27FC236}">
                <a16:creationId xmlns:a16="http://schemas.microsoft.com/office/drawing/2014/main" id="{63ED8E9D-5BA6-4731-889C-893431A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66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95166B61-C183-4B92-9D47-1736B820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‫מרחיבים‬</a:t>
            </a:r>
          </a:p>
        </p:txBody>
      </p:sp>
      <p:sp>
        <p:nvSpPr>
          <p:cNvPr id="10" name="method-1-rule">
            <a:extLst xmlns:a="http://schemas.openxmlformats.org/drawingml/2006/main">
              <a:ext uri="{FF2B5EF4-FFF2-40B4-BE49-F238E27FC236}">
                <a16:creationId xmlns:a16="http://schemas.microsoft.com/office/drawing/2014/main" id="{2754538E-3B04-4464-A822-483D32D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1-engine">
            <a:extLst xmlns:a="http://schemas.openxmlformats.org/drawingml/2006/main">
              <a:ext uri="{FF2B5EF4-FFF2-40B4-BE49-F238E27FC236}">
                <a16:creationId xmlns:a16="http://schemas.microsoft.com/office/drawing/2014/main" id="{439FAEEB-9244-458F-828F-6DB81204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Innovation + STORM</a:t>
            </a:r>
          </a:p>
        </p:txBody>
      </p:sp>
      <p:sp>
        <p:nvSpPr>
          <p:cNvPr id="12" name="method-1-body">
            <a:extLst xmlns:a="http://schemas.openxmlformats.org/drawingml/2006/main">
              <a:ext uri="{FF2B5EF4-FFF2-40B4-BE49-F238E27FC236}">
                <a16:creationId xmlns:a16="http://schemas.microsoft.com/office/drawing/2014/main" id="{F0C169E1-0388-4849-96D1-4553840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766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‫חלופות, נקודות מבט ומה עוד חסר‬</a:t>
            </a:r>
          </a:p>
        </p:txBody>
      </p:sp>
      <p:sp>
        <p:nvSpPr>
          <p:cNvPr id="13" name="method-2-n">
            <a:extLst xmlns:a="http://schemas.openxmlformats.org/drawingml/2006/main">
              <a:ext uri="{FF2B5EF4-FFF2-40B4-BE49-F238E27FC236}">
                <a16:creationId xmlns:a16="http://schemas.microsoft.com/office/drawing/2014/main" id="{A870BC63-51AB-4ED7-AFEE-97B17451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66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3E1F4719-A73C-4F32-A4C6-F1D96D47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‫מאתגרים‬</a:t>
            </a:r>
          </a:p>
        </p:txBody>
      </p:sp>
      <p:sp>
        <p:nvSpPr>
          <p:cNvPr id="15" name="method-2-rule">
            <a:extLst xmlns:a="http://schemas.openxmlformats.org/drawingml/2006/main">
              <a:ext uri="{FF2B5EF4-FFF2-40B4-BE49-F238E27FC236}">
                <a16:creationId xmlns:a16="http://schemas.microsoft.com/office/drawing/2014/main" id="{5183E49F-7D79-4D05-B9E6-79B5825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2-engine">
            <a:extLst xmlns:a="http://schemas.openxmlformats.org/drawingml/2006/main">
              <a:ext uri="{FF2B5EF4-FFF2-40B4-BE49-F238E27FC236}">
                <a16:creationId xmlns:a16="http://schemas.microsoft.com/office/drawing/2014/main" id="{3C0B507B-0F5C-4CF6-AB20-FB7A9B86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17" name="method-2-body">
            <a:extLst xmlns:a="http://schemas.openxmlformats.org/drawingml/2006/main">
              <a:ext uri="{FF2B5EF4-FFF2-40B4-BE49-F238E27FC236}">
                <a16:creationId xmlns:a16="http://schemas.microsoft.com/office/drawing/2014/main" id="{C724B73F-8F86-4450-9C2E-1DD004BA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‫הנחות, פרטיות, טעויות ושליטה אנושית‬</a:t>
            </a:r>
          </a:p>
        </p:txBody>
      </p:sp>
      <p:sp>
        <p:nvSpPr>
          <p:cNvPr id="18" name="method-3-n">
            <a:extLst xmlns:a="http://schemas.openxmlformats.org/drawingml/2006/main">
              <a:ext uri="{FF2B5EF4-FFF2-40B4-BE49-F238E27FC236}">
                <a16:creationId xmlns:a16="http://schemas.microsoft.com/office/drawing/2014/main" id="{DC4C8722-B078-461B-95E8-6ED7454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66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F4FE0663-9E61-4A02-823D-B7F95F2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‫בונים‬</a:t>
            </a:r>
          </a:p>
        </p:txBody>
      </p:sp>
      <p:sp>
        <p:nvSpPr>
          <p:cNvPr id="20" name="method-3-rule">
            <a:extLst xmlns:a="http://schemas.openxmlformats.org/drawingml/2006/main">
              <a:ext uri="{FF2B5EF4-FFF2-40B4-BE49-F238E27FC236}">
                <a16:creationId xmlns:a16="http://schemas.microsoft.com/office/drawing/2014/main" id="{61556E78-3CD7-4AD1-BB90-F8C7DEE9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thod-3-engine">
            <a:extLst xmlns:a="http://schemas.openxmlformats.org/drawingml/2006/main">
              <a:ext uri="{FF2B5EF4-FFF2-40B4-BE49-F238E27FC236}">
                <a16:creationId xmlns:a16="http://schemas.microsoft.com/office/drawing/2014/main" id="{FCCB6B6E-813B-4E04-B08B-694026B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62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Quick Win</a:t>
            </a:r>
          </a:p>
        </p:txBody>
      </p:sp>
      <p:sp>
        <p:nvSpPr>
          <p:cNvPr id="22" name="method-3-body">
            <a:extLst xmlns:a="http://schemas.openxmlformats.org/drawingml/2006/main">
              <a:ext uri="{FF2B5EF4-FFF2-40B4-BE49-F238E27FC236}">
                <a16:creationId xmlns:a16="http://schemas.microsoft.com/office/drawing/2014/main" id="{A4A95A61-1C95-407F-84C0-B200449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766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‫פתרון אחד עובד בתוך סביבת העבודה‬</a:t>
            </a:r>
          </a:p>
        </p:txBody>
      </p:sp>
      <p:sp>
        <p:nvSpPr>
          <p:cNvPr id="23" name="method-4-n">
            <a:extLst xmlns:a="http://schemas.openxmlformats.org/drawingml/2006/main">
              <a:ext uri="{FF2B5EF4-FFF2-40B4-BE49-F238E27FC236}">
                <a16:creationId xmlns:a16="http://schemas.microsoft.com/office/drawing/2014/main" id="{31DA9355-A61C-43A5-AF1E-EF32101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C633AA39-0AFB-4D30-8ABF-A6D4B9D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‫מודדים‬</a:t>
            </a:r>
          </a:p>
        </p:txBody>
      </p:sp>
      <p:sp>
        <p:nvSpPr>
          <p:cNvPr id="25" name="method-4-rule">
            <a:extLst xmlns:a="http://schemas.openxmlformats.org/drawingml/2006/main">
              <a:ext uri="{FF2B5EF4-FFF2-40B4-BE49-F238E27FC236}">
                <a16:creationId xmlns:a16="http://schemas.microsoft.com/office/drawing/2014/main" id="{53CFBD93-FDCF-4BCC-84BD-584A84E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thod-4-engine">
            <a:extLst xmlns:a="http://schemas.openxmlformats.org/drawingml/2006/main">
              <a:ext uri="{FF2B5EF4-FFF2-40B4-BE49-F238E27FC236}">
                <a16:creationId xmlns:a16="http://schemas.microsoft.com/office/drawing/2014/main" id="{2782CED6-8E16-4295-AB50-C47A603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Audit Toolkit</a:t>
            </a:r>
          </a:p>
        </p:txBody>
      </p:sp>
      <p:sp>
        <p:nvSpPr>
          <p:cNvPr id="27" name="method-4-body">
            <a:extLst xmlns:a="http://schemas.openxmlformats.org/drawingml/2006/main">
              <a:ext uri="{FF2B5EF4-FFF2-40B4-BE49-F238E27FC236}">
                <a16:creationId xmlns:a16="http://schemas.microsoft.com/office/drawing/2014/main" id="{2CB303C7-5929-4564-854F-8BE33E00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‫אימוץ, איכות ומה נכון לעשות בהמשך‬</a:t>
            </a:r>
          </a:p>
        </p:txBody>
      </p:sp>
      <p:sp>
        <p:nvSpPr>
          <p:cNvPr id="28" name="method-close">
            <a:extLst xmlns:a="http://schemas.openxmlformats.org/drawingml/2006/main">
              <a:ext uri="{FF2B5EF4-FFF2-40B4-BE49-F238E27FC236}">
                <a16:creationId xmlns:a16="http://schemas.microsoft.com/office/drawing/2014/main" id="{FEA5A406-95B8-4DA8-9D13-68DAEA61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9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45"/>
                </a:solidFill>
                <a:latin typeface="Arial"/>
                <a:ea typeface="Arial"/>
                <a:cs typeface="Arial"/>
              </a:rPr>
              <a:t>‫הלקוח לא קונה ארבע מתודולוגיות. הוא קונה החלטה בטוחה ופתרון אחד שעובד.‬</a:t>
            </a:r>
          </a:p>
        </p:txBody>
      </p:sp>
    </p:spTree>
    <p:extLst>
      <p:ext uri="{BB962C8B-B14F-4D97-AF65-F5344CB8AC3E}">
        <p14:creationId xmlns:p14="http://schemas.microsoft.com/office/powerpoint/2010/main" val="1155571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1A3B986-E01B-49DD-83AD-15FE37E8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‫בתוך 7–10 ימי עבודה הופכים שיחה אחת לתהליך עובד‬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1A063F2C-F3F0-4965-93CE-79C3824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F7618358-3342-4666-B406-6B517E22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0-label">
            <a:extLst xmlns:a="http://schemas.openxmlformats.org/drawingml/2006/main">
              <a:ext uri="{FF2B5EF4-FFF2-40B4-BE49-F238E27FC236}">
                <a16:creationId xmlns:a16="http://schemas.microsoft.com/office/drawing/2014/main" id="{30B866DC-EE66-4A50-BDAB-9CF77894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‫ימים 1–2‬</a:t>
            </a:r>
          </a:p>
        </p:txBody>
      </p:sp>
      <p:sp>
        <p:nvSpPr>
          <p:cNvPr id="5" name="timeline-0-dot">
            <a:extLst xmlns:a="http://schemas.openxmlformats.org/drawingml/2006/main">
              <a:ext uri="{FF2B5EF4-FFF2-40B4-BE49-F238E27FC236}">
                <a16:creationId xmlns:a16="http://schemas.microsoft.com/office/drawing/2014/main" id="{35A1BDDF-6B31-451B-A7BB-87C78BBE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46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0-title">
            <a:extLst xmlns:a="http://schemas.openxmlformats.org/drawingml/2006/main">
              <a:ext uri="{FF2B5EF4-FFF2-40B4-BE49-F238E27FC236}">
                <a16:creationId xmlns:a16="http://schemas.microsoft.com/office/drawing/2014/main" id="{69165823-F147-43A5-B358-FBE736A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‫מגלים‬</a:t>
            </a:r>
          </a:p>
        </p:txBody>
      </p:sp>
      <p:sp>
        <p:nvSpPr>
          <p:cNvPr id="7" name="timeline-0-body">
            <a:extLst xmlns:a="http://schemas.openxmlformats.org/drawingml/2006/main">
              <a:ext uri="{FF2B5EF4-FFF2-40B4-BE49-F238E27FC236}">
                <a16:creationId xmlns:a16="http://schemas.microsoft.com/office/drawing/2014/main" id="{B93A7F0F-8349-43C6-AD66-A697EBF8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‫אינטייק, בדיקה מקדימה ותצפית בתהליך האמיתי‬</a:t>
            </a:r>
          </a:p>
        </p:txBody>
      </p:sp>
      <p:sp>
        <p:nvSpPr>
          <p:cNvPr id="8" name="timeline-1-label">
            <a:extLst xmlns:a="http://schemas.openxmlformats.org/drawingml/2006/main">
              <a:ext uri="{FF2B5EF4-FFF2-40B4-BE49-F238E27FC236}">
                <a16:creationId xmlns:a16="http://schemas.microsoft.com/office/drawing/2014/main" id="{3975E6A3-1C01-4A14-B319-86DD4B4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52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‫ימים 3–5‬</a:t>
            </a:r>
          </a:p>
        </p:txBody>
      </p:sp>
      <p:sp>
        <p:nvSpPr>
          <p:cNvPr id="9" name="timeline-1-dot">
            <a:extLst xmlns:a="http://schemas.openxmlformats.org/drawingml/2006/main">
              <a:ext uri="{FF2B5EF4-FFF2-40B4-BE49-F238E27FC236}">
                <a16:creationId xmlns:a16="http://schemas.microsoft.com/office/drawing/2014/main" id="{F3FA16EC-1CAC-403E-ABE0-7B975CDE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46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1-title">
            <a:extLst xmlns:a="http://schemas.openxmlformats.org/drawingml/2006/main">
              <a:ext uri="{FF2B5EF4-FFF2-40B4-BE49-F238E27FC236}">
                <a16:creationId xmlns:a16="http://schemas.microsoft.com/office/drawing/2014/main" id="{94B53D00-E2F2-4005-A6EC-3701098A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81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‫מחליטים‬</a:t>
            </a:r>
          </a:p>
        </p:txBody>
      </p:sp>
      <p:sp>
        <p:nvSpPr>
          <p:cNvPr id="11" name="timeline-1-body">
            <a:extLst xmlns:a="http://schemas.openxmlformats.org/drawingml/2006/main">
              <a:ext uri="{FF2B5EF4-FFF2-40B4-BE49-F238E27FC236}">
                <a16:creationId xmlns:a16="http://schemas.microsoft.com/office/drawing/2014/main" id="{80915AA7-C8E4-4409-9AED-C6F50789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‫חלופות, דירוג ערך/מאמץ/סיכון ובדיקת סיכונים‬</a:t>
            </a:r>
          </a:p>
        </p:txBody>
      </p:sp>
      <p:sp>
        <p:nvSpPr>
          <p:cNvPr id="12" name="timeline-2-label">
            <a:extLst xmlns:a="http://schemas.openxmlformats.org/drawingml/2006/main">
              <a:ext uri="{FF2B5EF4-FFF2-40B4-BE49-F238E27FC236}">
                <a16:creationId xmlns:a16="http://schemas.microsoft.com/office/drawing/2014/main" id="{C0C516E6-45A3-42F5-9415-517DF71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‫ימים 6–10‬</a:t>
            </a:r>
          </a:p>
        </p:txBody>
      </p:sp>
      <p:sp>
        <p:nvSpPr>
          <p:cNvPr id="13" name="timeline-2-dot">
            <a:extLst xmlns:a="http://schemas.openxmlformats.org/drawingml/2006/main">
              <a:ext uri="{FF2B5EF4-FFF2-40B4-BE49-F238E27FC236}">
                <a16:creationId xmlns:a16="http://schemas.microsoft.com/office/drawing/2014/main" id="{EEC4A5D8-729C-456B-ADF3-BE3F5788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46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eline-2-title">
            <a:extLst xmlns:a="http://schemas.openxmlformats.org/drawingml/2006/main">
              <a:ext uri="{FF2B5EF4-FFF2-40B4-BE49-F238E27FC236}">
                <a16:creationId xmlns:a16="http://schemas.microsoft.com/office/drawing/2014/main" id="{A1B9CD5C-4B3A-4AD6-808C-04F75BE1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‫בונים‬</a:t>
            </a:r>
          </a:p>
        </p:txBody>
      </p:sp>
      <p:sp>
        <p:nvSpPr>
          <p:cNvPr id="15" name="timeline-2-body">
            <a:extLst xmlns:a="http://schemas.openxmlformats.org/drawingml/2006/main">
              <a:ext uri="{FF2B5EF4-FFF2-40B4-BE49-F238E27FC236}">
                <a16:creationId xmlns:a16="http://schemas.microsoft.com/office/drawing/2014/main" id="{D0592B43-2187-426C-8D7C-303985A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‫פתרון ראשון, בדיקה, הטמעה ותוכנית ל־90 יום‬</a:t>
            </a:r>
          </a:p>
        </p:txBody>
      </p:sp>
    </p:spTree>
    <p:extLst>
      <p:ext uri="{BB962C8B-B14F-4D97-AF65-F5344CB8AC3E}">
        <p14:creationId xmlns:p14="http://schemas.microsoft.com/office/powerpoint/2010/main" val="1480416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5631A4E-312F-4EAA-8AC4-9349B8CB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7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‫בסוף הספרינט נשארים עם חמישה דברים שאפשר לפעול לפיהם‬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A7D42B16-9E9F-415B-B8D3-451EB42A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deliverable-0-n">
            <a:extLst xmlns:a="http://schemas.openxmlformats.org/drawingml/2006/main">
              <a:ext uri="{FF2B5EF4-FFF2-40B4-BE49-F238E27FC236}">
                <a16:creationId xmlns:a16="http://schemas.microsoft.com/office/drawing/2014/main" id="{9413D63A-CDAD-499C-A294-2F1CA47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478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deliverable-0-text">
            <a:extLst xmlns:a="http://schemas.openxmlformats.org/drawingml/2006/main">
              <a:ext uri="{FF2B5EF4-FFF2-40B4-BE49-F238E27FC236}">
                <a16:creationId xmlns:a16="http://schemas.microsoft.com/office/drawing/2014/main" id="{3BD2BA24-C9CC-42F2-BD5F-00422C2D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‫מפת המנויים והכלים ומי באמת משתמש בהם‬</a:t>
            </a:r>
          </a:p>
        </p:txBody>
      </p:sp>
      <p:sp>
        <p:nvSpPr>
          <p:cNvPr id="5" name="deliverable-0-rule">
            <a:extLst xmlns:a="http://schemas.openxmlformats.org/drawingml/2006/main">
              <a:ext uri="{FF2B5EF4-FFF2-40B4-BE49-F238E27FC236}">
                <a16:creationId xmlns:a16="http://schemas.microsoft.com/office/drawing/2014/main" id="{1148FC90-C617-4324-85E0-D9323A3B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liverable-1-n">
            <a:extLst xmlns:a="http://schemas.openxmlformats.org/drawingml/2006/main">
              <a:ext uri="{FF2B5EF4-FFF2-40B4-BE49-F238E27FC236}">
                <a16:creationId xmlns:a16="http://schemas.microsoft.com/office/drawing/2014/main" id="{65D951BD-F60A-4D22-B9C8-E99E1810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deliverable-1-text">
            <a:extLst xmlns:a="http://schemas.openxmlformats.org/drawingml/2006/main">
              <a:ext uri="{FF2B5EF4-FFF2-40B4-BE49-F238E27FC236}">
                <a16:creationId xmlns:a16="http://schemas.microsoft.com/office/drawing/2014/main" id="{4A215E94-C235-4598-8838-4D069F5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‫מיפוי של 3–5 תהליכים כפי שהם עובדים בפועל‬</a:t>
            </a:r>
          </a:p>
        </p:txBody>
      </p:sp>
      <p:sp>
        <p:nvSpPr>
          <p:cNvPr id="8" name="deliverable-1-rule">
            <a:extLst xmlns:a="http://schemas.openxmlformats.org/drawingml/2006/main">
              <a:ext uri="{FF2B5EF4-FFF2-40B4-BE49-F238E27FC236}">
                <a16:creationId xmlns:a16="http://schemas.microsoft.com/office/drawing/2014/main" id="{C325707D-716C-41F6-88D7-3F777DA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liverable-2-n">
            <a:extLst xmlns:a="http://schemas.openxmlformats.org/drawingml/2006/main">
              <a:ext uri="{FF2B5EF4-FFF2-40B4-BE49-F238E27FC236}">
                <a16:creationId xmlns:a16="http://schemas.microsoft.com/office/drawing/2014/main" id="{9E180243-03FF-45CC-A0AE-6FC5E46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24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deliverable-2-text">
            <a:extLst xmlns:a="http://schemas.openxmlformats.org/drawingml/2006/main">
              <a:ext uri="{FF2B5EF4-FFF2-40B4-BE49-F238E27FC236}">
                <a16:creationId xmlns:a16="http://schemas.microsoft.com/office/drawing/2014/main" id="{1431E82F-834B-4888-9308-6FC2C66F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‫דירוג הזדמנויות לפי ערך, מאמץ וסיכון‬</a:t>
            </a:r>
          </a:p>
        </p:txBody>
      </p:sp>
      <p:sp>
        <p:nvSpPr>
          <p:cNvPr id="11" name="deliverable-2-rule">
            <a:extLst xmlns:a="http://schemas.openxmlformats.org/drawingml/2006/main">
              <a:ext uri="{FF2B5EF4-FFF2-40B4-BE49-F238E27FC236}">
                <a16:creationId xmlns:a16="http://schemas.microsoft.com/office/drawing/2014/main" id="{7CF6440B-2ED2-4EAC-A555-7C30C90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liverable-3-n">
            <a:extLst xmlns:a="http://schemas.openxmlformats.org/drawingml/2006/main">
              <a:ext uri="{FF2B5EF4-FFF2-40B4-BE49-F238E27FC236}">
                <a16:creationId xmlns:a16="http://schemas.microsoft.com/office/drawing/2014/main" id="{E3A69917-5ADE-4352-848E-373F769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deliverable-3-text">
            <a:extLst xmlns:a="http://schemas.openxmlformats.org/drawingml/2006/main">
              <a:ext uri="{FF2B5EF4-FFF2-40B4-BE49-F238E27FC236}">
                <a16:creationId xmlns:a16="http://schemas.microsoft.com/office/drawing/2014/main" id="{DD19D404-B4B8-4915-A10F-CBC283E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‫פתרון ראשון אחד בנוי ורץ‬</a:t>
            </a:r>
          </a:p>
        </p:txBody>
      </p:sp>
      <p:sp>
        <p:nvSpPr>
          <p:cNvPr id="14" name="deliverable-3-rule">
            <a:extLst xmlns:a="http://schemas.openxmlformats.org/drawingml/2006/main">
              <a:ext uri="{FF2B5EF4-FFF2-40B4-BE49-F238E27FC236}">
                <a16:creationId xmlns:a16="http://schemas.microsoft.com/office/drawing/2014/main" id="{3D0F3CC3-FE38-4FCA-9E5B-63B21AC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liverable-4-n">
            <a:extLst xmlns:a="http://schemas.openxmlformats.org/drawingml/2006/main">
              <a:ext uri="{FF2B5EF4-FFF2-40B4-BE49-F238E27FC236}">
                <a16:creationId xmlns:a16="http://schemas.microsoft.com/office/drawing/2014/main" id="{7400E3CF-B4A9-4539-829D-14DA5C3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deliverable-4-text">
            <a:extLst xmlns:a="http://schemas.openxmlformats.org/drawingml/2006/main">
              <a:ext uri="{FF2B5EF4-FFF2-40B4-BE49-F238E27FC236}">
                <a16:creationId xmlns:a16="http://schemas.microsoft.com/office/drawing/2014/main" id="{F74AD0E3-0620-4E34-8D41-DAB49C0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‫תוכנית ל־90 יום עם מה למדוד‬</a:t>
            </a:r>
          </a:p>
        </p:txBody>
      </p:sp>
      <p:sp>
        <p:nvSpPr>
          <p:cNvPr id="17" name="deliverable-4-rule">
            <a:extLst xmlns:a="http://schemas.openxmlformats.org/drawingml/2006/main">
              <a:ext uri="{FF2B5EF4-FFF2-40B4-BE49-F238E27FC236}">
                <a16:creationId xmlns:a16="http://schemas.microsoft.com/office/drawing/2014/main" id="{13B4BD44-22C3-4F0D-8B68-AF7C56A4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close">
            <a:extLst xmlns:a="http://schemas.openxmlformats.org/drawingml/2006/main">
              <a:ext uri="{FF2B5EF4-FFF2-40B4-BE49-F238E27FC236}">
                <a16:creationId xmlns:a16="http://schemas.microsoft.com/office/drawing/2014/main" id="{DBCE46EE-F254-431A-9C54-ABF6D906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‫תהליך אחד שעובד — לא מצגת.‬</a:t>
            </a:r>
          </a:p>
        </p:txBody>
      </p:sp>
    </p:spTree>
    <p:extLst>
      <p:ext uri="{BB962C8B-B14F-4D97-AF65-F5344CB8AC3E}">
        <p14:creationId xmlns:p14="http://schemas.microsoft.com/office/powerpoint/2010/main" val="1012578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D0D07C5E-00D1-4154-881D-49291A2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‫פרטיות היא חלק מהארכיטקטורה — לא סעיף שמוסיפים בסוף‬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A236450-2C9C-4894-9540-F1F2CB8A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privacy-0-panel">
            <a:extLst xmlns:a="http://schemas.openxmlformats.org/drawingml/2006/main">
              <a:ext uri="{FF2B5EF4-FFF2-40B4-BE49-F238E27FC236}">
                <a16:creationId xmlns:a16="http://schemas.microsoft.com/office/drawing/2014/main" id="{05BE8FC2-7BF0-4F59-9D52-800A82B1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84866"/>
            </a:solidFill>
            <a:prstDash val="solid"/>
          </a:ln>
        </p:spPr>
      </p:sp>
      <p:sp>
        <p:nvSpPr>
          <p:cNvPr id="4" name="privacy-0-n">
            <a:extLst xmlns:a="http://schemas.openxmlformats.org/drawingml/2006/main">
              <a:ext uri="{FF2B5EF4-FFF2-40B4-BE49-F238E27FC236}">
                <a16:creationId xmlns:a16="http://schemas.microsoft.com/office/drawing/2014/main" id="{89D1BB58-7FD5-43A0-BBBC-6059F320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rivacy-0-title">
            <a:extLst xmlns:a="http://schemas.openxmlformats.org/drawingml/2006/main">
              <a:ext uri="{FF2B5EF4-FFF2-40B4-BE49-F238E27FC236}">
                <a16:creationId xmlns:a16="http://schemas.microsoft.com/office/drawing/2014/main" id="{1D590B82-2121-44AB-868E-ABA8A3B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‫אצל הלקוח‬</a:t>
            </a:r>
          </a:p>
        </p:txBody>
      </p:sp>
      <p:sp>
        <p:nvSpPr>
          <p:cNvPr id="6" name="privacy-0-body">
            <a:extLst xmlns:a="http://schemas.openxmlformats.org/drawingml/2006/main">
              <a:ext uri="{FF2B5EF4-FFF2-40B4-BE49-F238E27FC236}">
                <a16:creationId xmlns:a16="http://schemas.microsoft.com/office/drawing/2014/main" id="{A57ABF2F-985D-4A0A-947C-04275C5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‫זהות אמיתית נשארת במערכת או בקובץ המקומי‬</a:t>
            </a:r>
          </a:p>
        </p:txBody>
      </p:sp>
      <p:sp>
        <p:nvSpPr>
          <p:cNvPr id="7" name="privacy-1-panel">
            <a:extLst xmlns:a="http://schemas.openxmlformats.org/drawingml/2006/main">
              <a:ext uri="{FF2B5EF4-FFF2-40B4-BE49-F238E27FC236}">
                <a16:creationId xmlns:a16="http://schemas.microsoft.com/office/drawing/2014/main" id="{F407B72E-119C-4DAC-983E-64AEAEB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468D4"/>
          </a:solidFill>
          <a:ln xmlns:a="http://schemas.openxmlformats.org/drawingml/2006/main" w="9525">
            <a:solidFill>
              <a:srgbClr val="2388F3"/>
            </a:solidFill>
            <a:prstDash val="solid"/>
          </a:ln>
        </p:spPr>
      </p:sp>
      <p:sp>
        <p:nvSpPr>
          <p:cNvPr id="8" name="privacy-1-n">
            <a:extLst xmlns:a="http://schemas.openxmlformats.org/drawingml/2006/main">
              <a:ext uri="{FF2B5EF4-FFF2-40B4-BE49-F238E27FC236}">
                <a16:creationId xmlns:a16="http://schemas.microsoft.com/office/drawing/2014/main" id="{A7B2E126-51CB-4BCC-9AC6-4C05A0D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rivacy-1-title">
            <a:extLst xmlns:a="http://schemas.openxmlformats.org/drawingml/2006/main">
              <a:ext uri="{FF2B5EF4-FFF2-40B4-BE49-F238E27FC236}">
                <a16:creationId xmlns:a16="http://schemas.microsoft.com/office/drawing/2014/main" id="{114806B7-71EC-4D2E-ADC6-7A11D60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‫בתוך המודל‬</a:t>
            </a:r>
          </a:p>
        </p:txBody>
      </p:sp>
      <p:sp>
        <p:nvSpPr>
          <p:cNvPr id="10" name="privacy-1-body">
            <a:extLst xmlns:a="http://schemas.openxmlformats.org/drawingml/2006/main">
              <a:ext uri="{FF2B5EF4-FFF2-40B4-BE49-F238E27FC236}">
                <a16:creationId xmlns:a16="http://schemas.microsoft.com/office/drawing/2014/main" id="{48736288-1A70-4DE9-BB31-FE724B8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909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‫נכנסים כינויים בלבד; אין שם או פרט מזהה‬</a:t>
            </a:r>
          </a:p>
        </p:txBody>
      </p:sp>
      <p:sp>
        <p:nvSpPr>
          <p:cNvPr id="11" name="privacy-2-panel">
            <a:extLst xmlns:a="http://schemas.openxmlformats.org/drawingml/2006/main">
              <a:ext uri="{FF2B5EF4-FFF2-40B4-BE49-F238E27FC236}">
                <a16:creationId xmlns:a16="http://schemas.microsoft.com/office/drawing/2014/main" id="{319F5245-2038-4289-B152-97D0789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84866"/>
            </a:solidFill>
            <a:prstDash val="solid"/>
          </a:ln>
        </p:spPr>
      </p:sp>
      <p:sp>
        <p:nvSpPr>
          <p:cNvPr id="12" name="privacy-2-n">
            <a:extLst xmlns:a="http://schemas.openxmlformats.org/drawingml/2006/main">
              <a:ext uri="{FF2B5EF4-FFF2-40B4-BE49-F238E27FC236}">
                <a16:creationId xmlns:a16="http://schemas.microsoft.com/office/drawing/2014/main" id="{790F0BE7-EA4A-4D3E-A087-AED91C9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rivacy-2-title">
            <a:extLst xmlns:a="http://schemas.openxmlformats.org/drawingml/2006/main">
              <a:ext uri="{FF2B5EF4-FFF2-40B4-BE49-F238E27FC236}">
                <a16:creationId xmlns:a16="http://schemas.microsoft.com/office/drawing/2014/main" id="{6BFD15D1-791E-4765-8D69-BFAE15E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‫ברגע השליחה‬</a:t>
            </a:r>
          </a:p>
        </p:txBody>
      </p:sp>
      <p:sp>
        <p:nvSpPr>
          <p:cNvPr id="14" name="privacy-2-body">
            <a:extLst xmlns:a="http://schemas.openxmlformats.org/drawingml/2006/main">
              <a:ext uri="{FF2B5EF4-FFF2-40B4-BE49-F238E27FC236}">
                <a16:creationId xmlns:a16="http://schemas.microsoft.com/office/drawing/2014/main" id="{696AD05D-121F-4B77-B886-C9592F56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‫הלקוח מחבר מחדש את הזהות מחוץ למודל‬</a:t>
            </a:r>
          </a:p>
        </p:txBody>
      </p:sp>
      <p:sp>
        <p:nvSpPr>
          <p:cNvPr id="15" name="privacy-limit">
            <a:extLst xmlns:a="http://schemas.openxmlformats.org/drawingml/2006/main">
              <a:ext uri="{FF2B5EF4-FFF2-40B4-BE49-F238E27FC236}">
                <a16:creationId xmlns:a16="http://schemas.microsoft.com/office/drawing/2014/main" id="{85308E55-3024-4BD6-8129-59631BD2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‫זו פרקטיקת ארכיטקטורה — לא הסמכת ציות ולא חוות דעת משפטית.‬</a:t>
            </a:r>
          </a:p>
        </p:txBody>
      </p:sp>
    </p:spTree>
    <p:extLst>
      <p:ext uri="{BB962C8B-B14F-4D97-AF65-F5344CB8AC3E}">
        <p14:creationId xmlns:p14="http://schemas.microsoft.com/office/powerpoint/2010/main" val="1001100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8A1E645-9EF3-4355-BD70-34EC222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‫הוכחת היכולת משלבת מוצר חי עם תהליך עסקי אמיתי‬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A5CB34BE-DBC8-4F3E-863A-ACC1477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proof-left">
            <a:extLst xmlns:a="http://schemas.openxmlformats.org/drawingml/2006/main">
              <a:ext uri="{FF2B5EF4-FFF2-40B4-BE49-F238E27FC236}">
                <a16:creationId xmlns:a16="http://schemas.microsoft.com/office/drawing/2014/main" id="{1C386FFC-4D41-4124-A316-77907C6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197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061425"/>
          </a:solidFill>
          <a:ln xmlns:a="http://schemas.openxmlformats.org/drawingml/2006/main" w="9525">
            <a:solidFill>
              <a:srgbClr val="102945"/>
            </a:solidFill>
            <a:prstDash val="solid"/>
          </a:ln>
        </p:spPr>
      </p:sp>
      <p:sp>
        <p:nvSpPr>
          <p:cNvPr id="4" name="proof-right">
            <a:extLst xmlns:a="http://schemas.openxmlformats.org/drawingml/2006/main">
              <a:ext uri="{FF2B5EF4-FFF2-40B4-BE49-F238E27FC236}">
                <a16:creationId xmlns:a16="http://schemas.microsoft.com/office/drawing/2014/main" id="{3C86F3F6-8C57-4C0F-93A5-9BB8FA51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2197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5" name="proof-product-label">
            <a:extLst xmlns:a="http://schemas.openxmlformats.org/drawingml/2006/main">
              <a:ext uri="{FF2B5EF4-FFF2-40B4-BE49-F238E27FC236}">
                <a16:creationId xmlns:a16="http://schemas.microsoft.com/office/drawing/2014/main" id="{EC9D4A7C-CAD0-43F1-9C35-EEAF63AA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‫יכולת ביצוע‬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a234e65874451"/>
          <a:stretch xmlns:a="http://schemas.openxmlformats.org/drawingml/2006/main"/>
        </p:blipFill>
        <p:spPr>
          <a:xfrm xmlns:a="http://schemas.openxmlformats.org/drawingml/2006/main">
            <a:off x="914400" y="2394204"/>
            <a:ext cx="2057400" cy="621792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789e629f64646"/>
          <a:stretch xmlns:a="http://schemas.openxmlformats.org/drawingml/2006/main"/>
        </p:blipFill>
        <p:spPr>
          <a:xfrm xmlns:a="http://schemas.openxmlformats.org/drawingml/2006/main">
            <a:off x="3219450" y="2481470"/>
            <a:ext cx="2057400" cy="447261"/>
          </a:xfrm>
          <a:prstGeom xmlns:a="http://schemas.openxmlformats.org/drawingml/2006/main" prst="rect">
            <a:avLst/>
          </a:prstGeom>
        </p:spPr>
      </p:pic>
      <p:sp>
        <p:nvSpPr>
          <p:cNvPr id="8" name="proof-product-copy">
            <a:extLst xmlns:a="http://schemas.openxmlformats.org/drawingml/2006/main">
              <a:ext uri="{FF2B5EF4-FFF2-40B4-BE49-F238E27FC236}">
                <a16:creationId xmlns:a16="http://schemas.microsoft.com/office/drawing/2014/main" id="{524988E0-E40A-404C-9ED5-04655AC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457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‫שתי אפליקציות מבוססות בינה מלאכותית שתוכננו, נבנו והושקו — הוכחה ליכולת להביא פתרון לידיים של משתמשים.‬</a:t>
            </a:r>
          </a:p>
        </p:txBody>
      </p:sp>
      <p:sp>
        <p:nvSpPr>
          <p:cNvPr id="9" name="proof-method-label">
            <a:extLst xmlns:a="http://schemas.openxmlformats.org/drawingml/2006/main">
              <a:ext uri="{FF2B5EF4-FFF2-40B4-BE49-F238E27FC236}">
                <a16:creationId xmlns:a16="http://schemas.microsoft.com/office/drawing/2014/main" id="{1C4D7135-490A-4F01-B7BB-4DB0FF3D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‫יכולת שיטה‬</a:t>
            </a:r>
          </a:p>
        </p:txBody>
      </p:sp>
      <p:sp>
        <p:nvSpPr>
          <p:cNvPr id="10" name="proof-method-title">
            <a:extLst xmlns:a="http://schemas.openxmlformats.org/drawingml/2006/main">
              <a:ext uri="{FF2B5EF4-FFF2-40B4-BE49-F238E27FC236}">
                <a16:creationId xmlns:a16="http://schemas.microsoft.com/office/drawing/2014/main" id="{72AC4763-ABA5-4AC3-9DDA-E4E14BD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‫מערכת עבודה לפרקטיקה מקצועית‬</a:t>
            </a:r>
          </a:p>
        </p:txBody>
      </p:sp>
      <p:sp>
        <p:nvSpPr>
          <p:cNvPr id="11" name="proof-method-copy">
            <a:extLst xmlns:a="http://schemas.openxmlformats.org/drawingml/2006/main">
              <a:ext uri="{FF2B5EF4-FFF2-40B4-BE49-F238E27FC236}">
                <a16:creationId xmlns:a16="http://schemas.microsoft.com/office/drawing/2014/main" id="{764C9312-0724-4270-B54F-C3DF15C9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4362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E80"/>
                </a:solidFill>
                <a:latin typeface="Arial"/>
                <a:ea typeface="Arial"/>
                <a:cs typeface="Arial"/>
              </a:rPr>
              <a:t>‫נבנתה על המנוי הבסיסי שכבר היה בתשלום, עם ארכיטקטורת פרטיות שבה מידע מזהה לא הגיע למודל.‬</a:t>
            </a:r>
          </a:p>
        </p:txBody>
      </p:sp>
      <p:sp>
        <p:nvSpPr>
          <p:cNvPr id="12" name="proof-limit">
            <a:extLst xmlns:a="http://schemas.openxmlformats.org/drawingml/2006/main">
              <a:ext uri="{FF2B5EF4-FFF2-40B4-BE49-F238E27FC236}">
                <a16:creationId xmlns:a16="http://schemas.microsoft.com/office/drawing/2014/main" id="{0E94D12E-3985-4166-A733-6DEEE579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‫לא נטען לתשואה משום שלא נמדד קו בסיס לפני השינוי.‬</a:t>
            </a:r>
          </a:p>
        </p:txBody>
      </p:sp>
    </p:spTree>
    <p:extLst>
      <p:ext uri="{BB962C8B-B14F-4D97-AF65-F5344CB8AC3E}">
        <p14:creationId xmlns:p14="http://schemas.microsoft.com/office/powerpoint/2010/main" val="255715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08F16AB-6D38-493F-BB88-E3BD94A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‫הצעד הראשון הוא שיחת התאמה ממוקדת של 30–45 דקות‬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34A47CF3-EAFB-4D71-9B0E-6FA4EF8D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E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E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fit-main">
            <a:extLst xmlns:a="http://schemas.openxmlformats.org/drawingml/2006/main">
              <a:ext uri="{FF2B5EF4-FFF2-40B4-BE49-F238E27FC236}">
                <a16:creationId xmlns:a16="http://schemas.microsoft.com/office/drawing/2014/main" id="{BFB450BE-AC03-4333-BBA8-3EE86E3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58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4" name="fit-main-label">
            <a:extLst xmlns:a="http://schemas.openxmlformats.org/drawingml/2006/main">
              <a:ext uri="{FF2B5EF4-FFF2-40B4-BE49-F238E27FC236}">
                <a16:creationId xmlns:a16="http://schemas.microsoft.com/office/drawing/2014/main" id="{6E532798-7F22-4E0E-9BC5-A6E4C4CA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68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68D4"/>
                </a:solidFill>
                <a:latin typeface="Arial"/>
                <a:ea typeface="Arial"/>
                <a:cs typeface="Arial"/>
              </a:rPr>
              <a:t>‫בשיחה‬</a:t>
            </a:r>
          </a:p>
        </p:txBody>
      </p:sp>
      <p:sp>
        <p:nvSpPr>
          <p:cNvPr id="5" name="fit-q-0">
            <a:extLst xmlns:a="http://schemas.openxmlformats.org/drawingml/2006/main">
              <a:ext uri="{FF2B5EF4-FFF2-40B4-BE49-F238E27FC236}">
                <a16:creationId xmlns:a16="http://schemas.microsoft.com/office/drawing/2014/main" id="{C1132358-6D74-4EAD-96F7-BB73C4C9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96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‫1.  איזה תהליך חוזר מכביד על הצוות?‬</a:t>
            </a:r>
          </a:p>
        </p:txBody>
      </p:sp>
      <p:sp>
        <p:nvSpPr>
          <p:cNvPr id="6" name="fit-q-1">
            <a:extLst xmlns:a="http://schemas.openxmlformats.org/drawingml/2006/main">
              <a:ext uri="{FF2B5EF4-FFF2-40B4-BE49-F238E27FC236}">
                <a16:creationId xmlns:a16="http://schemas.microsoft.com/office/drawing/2014/main" id="{BA05274F-9E29-4718-8BFE-FDB1CDBA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596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‫2.  אילו כלי בינה מלאכותית ומערכות כבר נמצאים בעסק?‬</a:t>
            </a:r>
          </a:p>
        </p:txBody>
      </p:sp>
      <p:sp>
        <p:nvSpPr>
          <p:cNvPr id="7" name="fit-q-2">
            <a:extLst xmlns:a="http://schemas.openxmlformats.org/drawingml/2006/main">
              <a:ext uri="{FF2B5EF4-FFF2-40B4-BE49-F238E27FC236}">
                <a16:creationId xmlns:a16="http://schemas.microsoft.com/office/drawing/2014/main" id="{BD4D1932-4CC6-456E-8F62-96012C76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596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‫3.  איפה יש מידע רגיש או החלטה שחייבת להישאר אנושית?‬</a:t>
            </a:r>
          </a:p>
        </p:txBody>
      </p:sp>
      <p:sp>
        <p:nvSpPr>
          <p:cNvPr id="8" name="fit-q-3">
            <a:extLst xmlns:a="http://schemas.openxmlformats.org/drawingml/2006/main">
              <a:ext uri="{FF2B5EF4-FFF2-40B4-BE49-F238E27FC236}">
                <a16:creationId xmlns:a16="http://schemas.microsoft.com/office/drawing/2014/main" id="{DDF4BAF3-ACAF-452D-B2A3-D01927F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6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D1D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D30"/>
                </a:solidFill>
                <a:latin typeface="Arial"/>
                <a:ea typeface="Arial"/>
                <a:cs typeface="Arial"/>
              </a:rPr>
              <a:t>‫4.  איך נדע שהשינוי באמת עזר?‬</a:t>
            </a:r>
          </a:p>
        </p:txBody>
      </p:sp>
      <p:sp>
        <p:nvSpPr>
          <p:cNvPr id="9" name="fit-output">
            <a:extLst xmlns:a="http://schemas.openxmlformats.org/drawingml/2006/main">
              <a:ext uri="{FF2B5EF4-FFF2-40B4-BE49-F238E27FC236}">
                <a16:creationId xmlns:a16="http://schemas.microsoft.com/office/drawing/2014/main" id="{1A6AAEAE-F71A-4F18-AB22-DCEE9B4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619500" cy="4000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468D4"/>
          </a:solidFill>
          <a:ln xmlns:a="http://schemas.openxmlformats.org/drawingml/2006/main" w="9525">
            <a:solidFill>
              <a:srgbClr val="1468D4"/>
            </a:solidFill>
            <a:prstDash val="solid"/>
          </a:ln>
        </p:spPr>
      </p:sp>
      <p:sp>
        <p:nvSpPr>
          <p:cNvPr id="10" name="fit-output-label">
            <a:extLst xmlns:a="http://schemas.openxmlformats.org/drawingml/2006/main">
              <a:ext uri="{FF2B5EF4-FFF2-40B4-BE49-F238E27FC236}">
                <a16:creationId xmlns:a16="http://schemas.microsoft.com/office/drawing/2014/main" id="{CB40FF89-427C-4120-9E75-624A4F0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‫התוצאה‬</a:t>
            </a:r>
          </a:p>
        </p:txBody>
      </p:sp>
      <p:sp>
        <p:nvSpPr>
          <p:cNvPr id="11" name="fit-output-title">
            <a:extLst xmlns:a="http://schemas.openxmlformats.org/drawingml/2006/main">
              <a:ext uri="{FF2B5EF4-FFF2-40B4-BE49-F238E27FC236}">
                <a16:creationId xmlns:a16="http://schemas.microsoft.com/office/drawing/2014/main" id="{C18AB9D7-95DE-4287-98D1-D2C8E75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‫תהליך אחד ששווה למפות‬</a:t>
            </a:r>
          </a:p>
        </p:txBody>
      </p:sp>
      <p:sp>
        <p:nvSpPr>
          <p:cNvPr id="12" name="fit-output-or">
            <a:extLst xmlns:a="http://schemas.openxmlformats.org/drawingml/2006/main">
              <a:ext uri="{FF2B5EF4-FFF2-40B4-BE49-F238E27FC236}">
                <a16:creationId xmlns:a16="http://schemas.microsoft.com/office/drawing/2014/main" id="{3507C925-96C0-4C0C-946E-0C2EEDE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D9EC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ECFF"/>
                </a:solidFill>
                <a:latin typeface="Arial"/>
                <a:ea typeface="Arial"/>
                <a:cs typeface="Arial"/>
              </a:rPr>
              <a:t>‫או תשובה כנה שאין כרגע התאמה.‬</a:t>
            </a:r>
          </a:p>
        </p:txBody>
      </p:sp>
    </p:spTree>
    <p:extLst>
      <p:ext uri="{BB962C8B-B14F-4D97-AF65-F5344CB8AC3E}">
        <p14:creationId xmlns:p14="http://schemas.microsoft.com/office/powerpoint/2010/main" val="1252853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1862620-3114-48A2-A8E7-BC11AE35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‫הצעד הבא‬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4D5E335-0EBD-4411-902C-85F75D4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‫בוחרים תהליך אחד.</a:t>
            </a:r>
          </a:p>
          <a:p xmlns:a="http://schemas.openxmlformats.org/drawingml/2006/main">
            <a:pPr algn="r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בונים אותו נכון.</a:t>
            </a:r>
          </a:p>
          <a:p xmlns:a="http://schemas.openxmlformats.org/drawingml/2006/main">
            <a:pPr algn="r"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מודדים לפני שמתרחבים.‬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7A343356-7FFA-42D6-9893-C92CA3DA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>
                <a:solidFill>
                  <a:srgbClr val="C8DBEE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C8DBEE"/>
                </a:solidFill>
                <a:latin typeface="Arial"/>
                <a:ea typeface="Arial"/>
                <a:cs typeface="Arial"/>
              </a:rPr>
              <a:t>‫אם בשיחת ההתאמה נמצא תהליך מתאים, הצעד הבא הוא ספרינט ערך של 7–10 ימי עסקים.‬</a:t>
            </a:r>
          </a:p>
        </p:txBody>
      </p:sp>
      <p:sp>
        <p:nvSpPr>
          <p:cNvPr id="4" name="close-contact">
            <a:extLst xmlns:a="http://schemas.openxmlformats.org/drawingml/2006/main">
              <a:ext uri="{FF2B5EF4-FFF2-40B4-BE49-F238E27FC236}">
                <a16:creationId xmlns:a16="http://schemas.microsoft.com/office/drawing/2014/main" id="{FB3DDAA8-C433-4659-8AF0-66EF3D40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FC9FF"/>
                </a:solidFill>
                <a:latin typeface="Arial"/>
                <a:ea typeface="Arial"/>
                <a:cs typeface="Arial"/>
              </a:rPr>
              <a:t>nadav.yigal@gmail.com  ·  054-533-3773</a:t>
            </a:r>
          </a:p>
        </p:txBody>
      </p:sp>
    </p:spTree>
    <p:extLst>
      <p:ext uri="{BB962C8B-B14F-4D97-AF65-F5344CB8AC3E}">
        <p14:creationId xmlns:p14="http://schemas.microsoft.com/office/powerpoint/2010/main" val="1145603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2026-08-30T11:13:28.8490000Z</dcterms:created>
  <dcterms:modified xsi:type="dcterms:W3CDTF">2026-08-30T11:13:28.8500000Z</dcterms:modified>
</coreProperties>
</file>