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aea998591e4adb" /><Relationship Type="http://schemas.openxmlformats.org/officeDocument/2006/relationships/extended-properties" Target="/docProps/app.xml" Id="Rea3a7168144b457a" /><Relationship Type="http://schemas.openxmlformats.org/officeDocument/2006/relationships/officeDocument" Target="/ppt/presentation.xml" Id="R84d1395bc5264c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67e978ab2744cf"/>
  </p:sldMasterIdLst>
  <p:notesMasterIdLst>
    <p:notesMasterId xmlns:r="http://schemas.openxmlformats.org/officeDocument/2006/relationships" r:id="Rcd77abd218a6488f"/>
  </p:notesMasterIdLst>
  <p:sldIdLst>
    <p:sldId xmlns:r="http://schemas.openxmlformats.org/officeDocument/2006/relationships" id="256" r:id="R57d4f9223a4444a8"/>
    <p:sldId xmlns:r="http://schemas.openxmlformats.org/officeDocument/2006/relationships" id="257" r:id="R05ba43da457a4b4d"/>
    <p:sldId xmlns:r="http://schemas.openxmlformats.org/officeDocument/2006/relationships" id="258" r:id="R1fca633e15ce45e5"/>
    <p:sldId xmlns:r="http://schemas.openxmlformats.org/officeDocument/2006/relationships" id="259" r:id="Rd28b3fc5ff95467a"/>
    <p:sldId xmlns:r="http://schemas.openxmlformats.org/officeDocument/2006/relationships" id="260" r:id="Rf66ec9a7f7ae4efb"/>
    <p:sldId xmlns:r="http://schemas.openxmlformats.org/officeDocument/2006/relationships" id="261" r:id="R691a1d70eb624baf"/>
    <p:sldId xmlns:r="http://schemas.openxmlformats.org/officeDocument/2006/relationships" id="262" r:id="Rcb0fd415b13043b0"/>
    <p:sldId xmlns:r="http://schemas.openxmlformats.org/officeDocument/2006/relationships" id="263" r:id="Rc24338c76f1f4c18"/>
    <p:sldId xmlns:r="http://schemas.openxmlformats.org/officeDocument/2006/relationships" id="264" r:id="R137fdf03f1114b87"/>
    <p:sldId xmlns:r="http://schemas.openxmlformats.org/officeDocument/2006/relationships" id="265" r:id="Rf5aaa7a2196745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90d14f72b14a15" /><Relationship Type="http://schemas.openxmlformats.org/officeDocument/2006/relationships/slideMaster" Target="/ppt/slideMasters/slideMaster1.xml" Id="R4f67e978ab2744cf" /><Relationship Type="http://schemas.openxmlformats.org/officeDocument/2006/relationships/notesMaster" Target="/ppt/notesMasters/notesMaster1.xml" Id="Rcd77abd218a6488f" /><Relationship Type="http://schemas.openxmlformats.org/officeDocument/2006/relationships/presProps" Target="/ppt/presProps.xml" Id="R631598c28af844ea" /><Relationship Type="http://schemas.openxmlformats.org/officeDocument/2006/relationships/tableStyles" Target="/ppt/tableStyles.xml" Id="R0d5e6cbeace84d5d" /><Relationship Type="http://schemas.openxmlformats.org/officeDocument/2006/relationships/slide" Target="/ppt/slides/slide1.xml" Id="R57d4f9223a4444a8" /><Relationship Type="http://schemas.openxmlformats.org/officeDocument/2006/relationships/slide" Target="/ppt/slides/slide2.xml" Id="R05ba43da457a4b4d" /><Relationship Type="http://schemas.openxmlformats.org/officeDocument/2006/relationships/slide" Target="/ppt/slides/slide3.xml" Id="R1fca633e15ce45e5" /><Relationship Type="http://schemas.openxmlformats.org/officeDocument/2006/relationships/slide" Target="/ppt/slides/slide4.xml" Id="Rd28b3fc5ff95467a" /><Relationship Type="http://schemas.openxmlformats.org/officeDocument/2006/relationships/slide" Target="/ppt/slides/slide5.xml" Id="Rf66ec9a7f7ae4efb" /><Relationship Type="http://schemas.openxmlformats.org/officeDocument/2006/relationships/slide" Target="/ppt/slides/slide6.xml" Id="R691a1d70eb624baf" /><Relationship Type="http://schemas.openxmlformats.org/officeDocument/2006/relationships/slide" Target="/ppt/slides/slide7.xml" Id="Rcb0fd415b13043b0" /><Relationship Type="http://schemas.openxmlformats.org/officeDocument/2006/relationships/slide" Target="/ppt/slides/slide8.xml" Id="Rc24338c76f1f4c18" /><Relationship Type="http://schemas.openxmlformats.org/officeDocument/2006/relationships/slide" Target="/ppt/slides/slide9.xml" Id="R137fdf03f1114b87" /><Relationship Type="http://schemas.openxmlformats.org/officeDocument/2006/relationships/slide" Target="/ppt/slides/slide10.xml" Id="Rf5aaa7a2196745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12785b6a4b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4451a56c1f4350" /><Relationship Type="http://schemas.openxmlformats.org/officeDocument/2006/relationships/notesMaster" Target="/ppt/notesMasters/notesMaster1.xml" Id="R1f01f6776a1048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0ec602fa484348" /><Relationship Type="http://schemas.openxmlformats.org/officeDocument/2006/relationships/notesMaster" Target="/ppt/notesMasters/notesMaster1.xml" Id="R20ce6bde3cfa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47e2d41c294211" /><Relationship Type="http://schemas.openxmlformats.org/officeDocument/2006/relationships/notesMaster" Target="/ppt/notesMasters/notesMaster1.xml" Id="R1b99a4fcd58e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1669a47f3f492e" /><Relationship Type="http://schemas.openxmlformats.org/officeDocument/2006/relationships/notesMaster" Target="/ppt/notesMasters/notesMaster1.xml" Id="R5b51b14827f249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301574d96a4fe9" /><Relationship Type="http://schemas.openxmlformats.org/officeDocument/2006/relationships/notesMaster" Target="/ppt/notesMasters/notesMaster1.xml" Id="Rba3c1f8dd91748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194c60661b40df" /><Relationship Type="http://schemas.openxmlformats.org/officeDocument/2006/relationships/notesMaster" Target="/ppt/notesMasters/notesMaster1.xml" Id="R20079245b9594b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70a77e032e46e1" /><Relationship Type="http://schemas.openxmlformats.org/officeDocument/2006/relationships/notesMaster" Target="/ppt/notesMasters/notesMaster1.xml" Id="Rc199e8d51bbf4e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006a2fb4194a0a" /><Relationship Type="http://schemas.openxmlformats.org/officeDocument/2006/relationships/notesMaster" Target="/ppt/notesMasters/notesMaster1.xml" Id="R9f0e09c6c3cc49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44c73271124ac6" /><Relationship Type="http://schemas.openxmlformats.org/officeDocument/2006/relationships/notesMaster" Target="/ppt/notesMasters/notesMaster1.xml" Id="Rbf527a4795b949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5dbd200de34e21" /><Relationship Type="http://schemas.openxmlformats.org/officeDocument/2006/relationships/notesMaster" Target="/ppt/notesMasters/notesMaster1.xml" Id="R176c814bbbdf4f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outcome. The buyer is purchasing one usable pilot, not a methodology or an open-ended advisory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scope literal. Pricing is intentionally not shown because no approved price exists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conversation example, not as a promise about the prospect's exact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work in chronological order. Each stage has a decision and an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docs/service/delivery-workflow.md</a:t>
            </a:r>
          </a:p>
          <a:p xmlns:a="http://schemas.openxmlformats.org/drawingml/2006/main">
            <a:r>
              <a:t>- docs/service/offer.md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tangible handoff items. Do not add extra deliverables unless they are explicitly scoped and priced.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Privacy is an architecture decision made during the pilot. Never describe the engagement as a legal or compliance certification.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docs/service/value-proposition.md</a:t>
            </a:r>
          </a:p>
          <a:p xmlns:a="http://schemas.openxmlformats.org/drawingml/2006/main">
            <a:r>
              <a:t>- docs/toolkit/README.md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criteria to qualify firmly. A no-fit decision protects both sides from a vague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engagement should be independently useful. Present rollout and ongoing support as optional follow-on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docs/service/delivery-workflow.md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run a generic discovery call. Ask the prospect to choose one workflow and decide fit against the criteria in this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docs/service/offer.md</a:t>
            </a:r>
          </a:p>
          <a:p xmlns:a="http://schemas.openxmlformats.org/drawingml/2006/main">
            <a:r>
              <a:t>- docs/sales/service-pitch-and-call-runbook.md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use this appendix when someone asks how the work is performed. Keep the main sales story focused on the buyer's workflow and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docs/toolkit/README.md</a:t>
            </a:r>
          </a:p>
          <a:p xmlns:a="http://schemas.openxmlformats.org/drawingml/2006/main">
            <a:r>
              <a:t>- docs/service/delivery-workflow.md</a:t>
            </a:r>
          </a:p>
          <a:p xmlns:a="http://schemas.openxmlformats.org/drawingml/2006/main">
            <a:r>
              <a:t>- Builder OS internal Innovation/STORM/Red Team 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a3be5d39848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0df78905d34e3a" /><Relationship Type="http://schemas.openxmlformats.org/officeDocument/2006/relationships/slideLayout" Target="/ppt/slideLayouts/slideLayout1.xml" Id="R94a3c60fe56c47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3c60fe56c47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cfd9710164e96" /><Relationship Type="http://schemas.openxmlformats.org/officeDocument/2006/relationships/notesSlide" Target="/ppt/notesSlides/notesSlide1.xml" Id="R96bd11cbcb3a4b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3d183c55c4d63" /><Relationship Type="http://schemas.openxmlformats.org/officeDocument/2006/relationships/notesSlide" Target="/ppt/notesSlides/notesSlide2.xml" Id="R834947d9a4aa4e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5e5be884240f8" /><Relationship Type="http://schemas.openxmlformats.org/officeDocument/2006/relationships/notesSlide" Target="/ppt/notesSlides/notesSlide3.xml" Id="Rdf788dd949ee49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61af8ed5144cc" /><Relationship Type="http://schemas.openxmlformats.org/officeDocument/2006/relationships/notesSlide" Target="/ppt/notesSlides/notesSlide4.xml" Id="R49a4059287bc4e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be73c26234c89" /><Relationship Type="http://schemas.openxmlformats.org/officeDocument/2006/relationships/notesSlide" Target="/ppt/notesSlides/notesSlide5.xml" Id="Rc4316ce3fc76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695805b8b43c1" /><Relationship Type="http://schemas.openxmlformats.org/officeDocument/2006/relationships/notesSlide" Target="/ppt/notesSlides/notesSlide6.xml" Id="R48b745d852cb42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a36764bab4f22" /><Relationship Type="http://schemas.openxmlformats.org/officeDocument/2006/relationships/notesSlide" Target="/ppt/notesSlides/notesSlide7.xml" Id="Rfa6ef4df29b849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403bf1b534c50" /><Relationship Type="http://schemas.openxmlformats.org/officeDocument/2006/relationships/notesSlide" Target="/ppt/notesSlides/notesSlide8.xml" Id="R0d4678a5c7314e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96d3668e041bb" /><Relationship Type="http://schemas.openxmlformats.org/officeDocument/2006/relationships/notesSlide" Target="/ppt/notesSlides/notesSlide9.xml" Id="Rd6c9ffa1d30d46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01f93bc3f4370" /><Relationship Type="http://schemas.openxmlformats.org/officeDocument/2006/relationships/notesSlide" Target="/ppt/notesSlides/notesSlide10.xml" Id="R33d24607136f4d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22175-5B80-4B70-9A39-38EB74B6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DDF0"/>
                </a:solidFill>
              </a:defRPr>
            </a:pPr>
            <a:r>
              <a:rPr sz="975" b="1">
                <a:solidFill>
                  <a:srgbClr val="86DDF0"/>
                </a:solidFill>
              </a:rPr>
              <a:t>NY AI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CEF96-EF8C-4D7B-AD19-15D41328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Make one recurring workflow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easier to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CDED4-1757-4F74-BABB-19AB481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0E8F2"/>
                </a:solidFill>
              </a:defRPr>
            </a:pPr>
            <a:r>
              <a:rPr sz="1725" b="0">
                <a:solidFill>
                  <a:srgbClr val="D0E8F2"/>
                </a:solidFill>
              </a:rPr>
              <a:t>A fixed-scope, 10-business-day AI Workflow Pilot</a:t>
            </a:r>
          </a:p>
          <a:p xmlns:a="http://schemas.openxmlformats.org/drawingml/2006/main">
            <a:pPr algn="l">
              <a:defRPr sz="1725" b="0">
                <a:solidFill>
                  <a:srgbClr val="D0E8F2"/>
                </a:solidFill>
              </a:defRPr>
            </a:pPr>
            <a:r>
              <a:rPr sz="1725" b="0">
                <a:solidFill>
                  <a:srgbClr val="D0E8F2"/>
                </a:solidFill>
              </a:rPr>
              <a:t>for professional-services teams.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3FCF3-6DE0-4641-B756-36A2675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3276600" cy="4095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153B5B"/>
          </a:solidFill>
          <a:ln xmlns:a="http://schemas.openxmlformats.org/drawingml/2006/main" w="9525">
            <a:solidFill>
              <a:srgbClr val="2A58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6257F-2BDF-4E2B-87E6-1C92AF29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DDF0"/>
                </a:solidFill>
              </a:defRPr>
            </a:pPr>
            <a:r>
              <a:rPr sz="1125" b="1">
                <a:solidFill>
                  <a:srgbClr val="86DDF0"/>
                </a:solidFill>
              </a:rPr>
              <a:t>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E42CA-9475-46F1-9859-E4D37B37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380A9-554F-419B-B3F8-FB9F7961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43A53-42F9-4485-B1DE-20F5EAC8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DDF0"/>
                </a:solidFill>
              </a:defRPr>
            </a:pPr>
            <a:r>
              <a:rPr sz="1125" b="1">
                <a:solidFill>
                  <a:srgbClr val="86DDF0"/>
                </a:solidFill>
              </a:rPr>
              <a:t>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85268-D0F2-43E4-940F-5A93FBA6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4CBD8-AF56-44FA-9E05-F4EA9BB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526C3-EF6F-46C9-A366-AD294670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DDF0"/>
                </a:solidFill>
              </a:defRPr>
            </a:pPr>
            <a:r>
              <a:rPr sz="1125" b="1">
                <a:solidFill>
                  <a:srgbClr val="86DDF0"/>
                </a:solidFill>
              </a:rPr>
              <a:t>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DD200-95D7-42A6-A19E-8C747680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working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C97DD-87FD-48DE-A150-9A395499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CCFE0"/>
                </a:solidFill>
              </a:defRPr>
            </a:pPr>
            <a:r>
              <a:rPr sz="1350" b="1">
                <a:solidFill>
                  <a:srgbClr val="9CCFE0"/>
                </a:solidFill>
              </a:rPr>
              <a:t>Not a broad AI audit. Not a transformation programme.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39C79-6F1E-4D5F-9A3C-934C5AB5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 · WORKFLOW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2CFAA-314E-4176-B6BB-5A68AD2D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1926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96B83-C831-4FE9-A5F7-F89F8E8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C8"/>
                </a:solidFill>
              </a:defRPr>
            </a:pPr>
            <a:r>
              <a:rPr sz="900" b="1">
                <a:solidFill>
                  <a:srgbClr val="00A6C8"/>
                </a:solidFill>
              </a:rPr>
              <a:t>THE OFFER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78D6B-BAF9-4ECE-B3B7-A9A252DF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Buy one working pilot—not an AI strategy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B7310-9A20-41F9-9160-14F32E61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34E9E-E5F9-413F-B90C-A664CEAF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6F819-79DF-4959-9957-CD5A5BF9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CCAFD-CA14-446C-AEAF-A29489D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381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7EBAE-B180-44D2-BCAD-5939D650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</a:defRPr>
            </a:pPr>
            <a:r>
              <a:rPr sz="1050" b="1">
                <a:solidFill>
                  <a:srgbClr val="00A6C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E90FA-7F20-431A-B2B8-D733159D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28AE4-6FC0-41DD-BBD4-7C285EA5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One named, recurring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16230-0197-49C2-934B-945D9691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2381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0657B-028C-4F13-B2E4-FEA538C5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</a:defRPr>
            </a:pPr>
            <a:r>
              <a:rPr sz="1050" b="1">
                <a:solidFill>
                  <a:srgbClr val="00A6C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9AC10-8B83-45C1-AF05-AF697870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CLIENT BRINGS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046CF-BED8-4A9B-9EDF-16AFAAE1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813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An owner, current steps and sample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8D9D9-1573-4438-8F0F-72CCDBB9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2381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ED599-62E7-42D8-AFD7-1D0CA22E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</a:defRPr>
            </a:pPr>
            <a:r>
              <a:rPr sz="1050" b="1">
                <a:solidFill>
                  <a:srgbClr val="00A6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895A8-9D61-4E33-A36E-7523DA6A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WE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BD025-7EA5-46CB-8060-97136665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813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Map, design, build, test and hand 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E123A-A64C-4DCF-8B27-F966A8AD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381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D6D0B-586B-4F21-BB4E-3E4EFAF3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431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</a:defRPr>
            </a:pPr>
            <a:r>
              <a:rPr sz="1050" b="1">
                <a:solidFill>
                  <a:srgbClr val="00A6C8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002F7-BB72-4700-8C0D-782725DC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62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C5147-DEA7-4418-AE9E-48959CCA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8135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 working pilot with rules and an operating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C63A3-A43D-494C-A2DD-6F597BF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1125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7F5F7-8018-4531-8167-2BC4474A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DDF0"/>
                </a:solidFill>
              </a:defRPr>
            </a:pPr>
            <a:r>
              <a:rPr sz="1050" b="1">
                <a:solidFill>
                  <a:srgbClr val="86DDF0"/>
                </a:solidFill>
              </a:rPr>
              <a:t>Commercial 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71BFF-74C3-4605-B1D8-C8B80296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Free 30–45 min fit call  →  fixed-price pilot quoted after workflow confirmation</a:t>
            </a:r>
          </a:p>
        </p:txBody>
      </p:sp>
    </p:spTree>
    <p:extLst>
      <p:ext uri="{BB962C8B-B14F-4D97-AF65-F5344CB8AC3E}">
        <p14:creationId xmlns:p14="http://schemas.microsoft.com/office/powerpoint/2010/main" val="1153798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7CC7B6-2007-41B7-8FC1-3223803A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C8"/>
                </a:solidFill>
              </a:defRPr>
            </a:pPr>
            <a:r>
              <a:rPr sz="900" b="1">
                <a:solidFill>
                  <a:srgbClr val="00A6C8"/>
                </a:solidFill>
              </a:rPr>
              <a:t>WHAT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99F01-A903-4733-B1A2-A9712ADD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 simple example: preparing a client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1B31A-5F91-49B2-9B90-9AD30E32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6EC0A-0456-4644-806B-4D966459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2416A-C480-45C7-9A54-A398AA60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A5CBD-0111-42DA-881A-1407924A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72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ILLUSTRATIVE — THE ACTUAL WORKFLOW IS CHOSEN ON THE FIT 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B2701-CEDC-42FD-A605-0853630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9520A-D668-4F76-8294-8555357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6E"/>
                </a:solidFill>
              </a:defRPr>
            </a:pPr>
            <a:r>
              <a:rPr sz="1050" b="1">
                <a:solidFill>
                  <a:srgbClr val="157A6E"/>
                </a:solidFill>
              </a:rPr>
              <a:t>WITH THE 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910A9-9360-46AD-B89E-BC327F81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5B91E-8C4B-40B4-AEE9-2628A77F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Request arrives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B4F7A-992C-4737-9098-6C42AF2A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4797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22600-065A-439F-9A16-8DAF7C35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61F8B-AE75-4311-8CC5-FA7A18DC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Search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22394-0D7E-406D-92D3-0EB9CDE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39DF4-87AD-4E3D-A249-99F1ADF7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87FDF-0054-4795-BE79-AC83AC01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Copy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1B63A-111A-49AF-9476-392C26B5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178CB-B292-4928-9A17-86396667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41D24-65BB-4A9E-8891-7795CE5D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94766-D2DC-4098-8FC5-F1C7760A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F2E05-7BAD-4942-BDF0-C31D6EDF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00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DE42C-C1FF-439A-9005-58F71B79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Chase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03FEA-6FD7-4014-BC9B-0B40C399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2917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DE656-709E-47C5-BE92-1BDE4D11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D74DB-2DE4-4FBA-902F-1C5CD7FD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Send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B2D3FB-7681-42BD-9D38-1D15A004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7AB442-411B-4B12-A304-EBE3B9B6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Request arrives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AA8A0-84FF-4D16-B930-450C586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4797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BF4D6-9286-42F0-A8A7-EA0D26E2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06BA38-3798-41D2-816E-4C0B13E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Minimum context assembled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DA4A02-779F-4929-93A6-41A17A25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DDA0E4-83D6-4F60-B59B-3D1EB31C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2D93BC-828D-43AA-BD76-734B7DD4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52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Draft prepared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AB18AD-D095-4F87-938C-2C776C28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907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C35E96-BD25-44DB-A1FB-17CA586D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91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ADD438-C0F4-449B-99BC-F65AC374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Professional reviews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1F1814-7868-4040-892E-F06421A0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96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644509-0A92-49D6-8584-347C32AE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E1AC4A-411D-4B31-8B41-8F81000B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33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Send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6E670D-C205-441C-8E73-9B44196D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38400"/>
            <a:ext cx="190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D37DED-856B-45A4-A3A0-993F299E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72125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A6E"/>
                </a:solidFill>
              </a:defRPr>
            </a:pPr>
            <a:r>
              <a:rPr sz="1200" b="1">
                <a:solidFill>
                  <a:srgbClr val="157A6E"/>
                </a:solidFill>
              </a:rPr>
              <a:t>The professional still approves the work before it leaves the firm.</a:t>
            </a:r>
          </a:p>
        </p:txBody>
      </p:sp>
    </p:spTree>
    <p:extLst>
      <p:ext uri="{BB962C8B-B14F-4D97-AF65-F5344CB8AC3E}">
        <p14:creationId xmlns:p14="http://schemas.microsoft.com/office/powerpoint/2010/main" val="332812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4B8C0-0637-4C6E-B6EA-5CD67078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C8"/>
                </a:solidFill>
              </a:defRPr>
            </a:pPr>
            <a:r>
              <a:rPr sz="900" b="1">
                <a:solidFill>
                  <a:srgbClr val="00A6C8"/>
                </a:solidFill>
              </a:rPr>
              <a:t>10 BUSINESS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F1293-5A12-4B89-B530-F32425F8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The pilot has four clear stages.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0941B-AB59-457E-8A72-7F7844F2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3BB1C-2D91-4663-9C1F-B654B232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10B8F-0498-4209-94E2-717642FB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CD268-599D-4985-8E0F-6F1FCFF4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476500" cy="3429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25FA7-F7F1-4FA5-8BAC-22CAF0BE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</a:defRPr>
            </a:pPr>
            <a:r>
              <a:rPr sz="1125" b="1">
                <a:solidFill>
                  <a:srgbClr val="00A6C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0E83B-CA6B-4AD0-BF32-2F4871E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DAYS 1–2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E3D54-9A97-4871-B008-62B492F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DIAGNOSE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00DD4-73C2-4C41-AAD0-07930BA6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BF0E5-E5A8-40C6-B1DE-52A7254E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038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Observe the workflow, name the owner, record the baseline and trace the data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0A7F9-53FC-49F4-99A0-BE5B94D2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476500" cy="3429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DED3E-FCBE-4067-AE26-4849C817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</a:defRPr>
            </a:pPr>
            <a:r>
              <a:rPr sz="1125" b="1">
                <a:solidFill>
                  <a:srgbClr val="00A6C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0A603-A685-44A7-9164-2FF2A4B0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81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DAYS 3–4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DE3B7-6B31-4A34-9F15-E95E7B48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29A18-0B35-4B51-8524-DAC54E8D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671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FAA21-560C-450B-AC42-20D51E5C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76700"/>
            <a:ext cx="2038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Choose the smallest viable approach and define human approval and data boundaries.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0770F-996F-479D-A867-9121146F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2476500" cy="3429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C80AD-8F28-4DBD-A1B9-69F78D8A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</a:defRPr>
            </a:pPr>
            <a:r>
              <a:rPr sz="1125" b="1">
                <a:solidFill>
                  <a:srgbClr val="00A6C8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8B3F4-70BD-4CB8-B937-4CCB791E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DAYS 5–8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8C430-4A5F-40BC-8189-08DDCC4D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BUILD +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9D7F0-6BED-47EF-A273-937635EF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671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67852F-0A70-44FD-9C9A-F2A2F59D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2038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Configure the pilot—preferably in existing tools—and test it with the workflow owner.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37873-6E14-4597-8891-6808CA9F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476500" cy="3429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01E1E-A3B8-4675-B6C7-FCAF2923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</a:defRPr>
            </a:pPr>
            <a:r>
              <a:rPr sz="1125" b="1">
                <a:solidFill>
                  <a:srgbClr val="00A6C8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085E03-CB6C-42D0-8A67-589091A6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DAYS 9–10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CF989-3609-4B38-B1FF-5F1E21BC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LAUNCH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1F17D3-3290-4ECE-9121-FF429B06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671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4E89A2-5A45-42AD-AF51-AF79A0C1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76700"/>
            <a:ext cx="2038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Train the owner, hand over the SOP and agree what will be measured next.</a:t>
            </a:r>
          </a:p>
        </p:txBody>
      </p:sp>
    </p:spTree>
    <p:extLst>
      <p:ext uri="{BB962C8B-B14F-4D97-AF65-F5344CB8AC3E}">
        <p14:creationId xmlns:p14="http://schemas.microsoft.com/office/powerpoint/2010/main" val="1034457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00BA70-48CA-45E7-A7B5-078091C9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C8"/>
                </a:solidFill>
              </a:defRPr>
            </a:pPr>
            <a:r>
              <a:rPr sz="900" b="1">
                <a:solidFill>
                  <a:srgbClr val="00A6C8"/>
                </a:solidFill>
              </a:rPr>
              <a:t>WHAT IS DELIVERED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A3C7E-24E4-4FA1-A9D1-723FD1B3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You leave with five usable assets.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784E1-557D-4BBE-8E5E-5AA5184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9A27E-1DAF-468F-AD58-24395145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69364-605B-4976-862C-8412B51B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B7746-691C-4BF4-97A8-1C96686D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</a:defRPr>
            </a:pPr>
            <a:r>
              <a:rPr sz="1125" b="1">
                <a:solidFill>
                  <a:srgbClr val="00A6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8FB9F-2733-4A52-9808-7956384F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Working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1495C-4CF4-40E1-A1B5-19914ED4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One workflow configured and tested with its owner.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1F826-DFAF-47DF-9BE2-2DA267AA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88286-0F9E-4C99-8741-2FA7B08E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</a:defRPr>
            </a:pPr>
            <a:r>
              <a:rPr sz="1125" b="1">
                <a:solidFill>
                  <a:srgbClr val="00A6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63313-0EBB-43E1-BCB7-4708C7FB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Workflow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98F21-00BF-4581-9C7D-6FDF1743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Current and pilot-state steps, decisions and handoffs.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5006C-3658-42A3-AD92-C1273667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3C0EF-3882-4148-9774-BAC9293B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</a:defRPr>
            </a:pPr>
            <a:r>
              <a:rPr sz="1125" b="1">
                <a:solidFill>
                  <a:srgbClr val="00A6C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8E8EE-FC24-44C1-82CB-15811877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Data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08EA2-8D7A-4325-A8AE-2E460B21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What may enter the model, what stays out and who approves.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BEE4C-1293-43F7-9344-36106CAE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A2CCD-8971-4B7C-AC72-B6CC5CF7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</a:defRPr>
            </a:pPr>
            <a:r>
              <a:rPr sz="1125" b="1">
                <a:solidFill>
                  <a:srgbClr val="00A6C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B29D4-12A7-4A19-82FF-69ACCE00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SOP + training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9EE9F-B332-44D3-A9B6-EBDF196F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 simple runbook the owner can actually 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1FD8B-8297-49CF-9185-891B64BF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6EADE-88D8-4421-BC40-5558DC0A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C8"/>
                </a:solidFill>
              </a:defRPr>
            </a:pPr>
            <a:r>
              <a:rPr sz="1125" b="1">
                <a:solidFill>
                  <a:srgbClr val="00A6C8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EE6F2-DBF4-4C09-B9F3-301E90C7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30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Measurement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DFF108-38BF-4C19-B079-3AA4173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5305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 30- or 90-day plan for adoption, quality and next decisions.</a:t>
            </a:r>
          </a:p>
        </p:txBody>
      </p:sp>
    </p:spTree>
    <p:extLst>
      <p:ext uri="{BB962C8B-B14F-4D97-AF65-F5344CB8AC3E}">
        <p14:creationId xmlns:p14="http://schemas.microsoft.com/office/powerpoint/2010/main" val="746834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4BBB9-5F00-4B86-9DAA-246ECB9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C8"/>
                </a:solidFill>
              </a:defRPr>
            </a:pPr>
            <a:r>
              <a:rPr sz="900" b="1">
                <a:solidFill>
                  <a:srgbClr val="00A6C8"/>
                </a:solidFill>
              </a:rPr>
              <a:t>DATA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4EA57-32A4-4494-B001-77A37227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Sensitive data stays outside the model unless it is genuinely required.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99BE2-D0F8-4A92-B5FE-E157EDE6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1F326-9E50-480F-9AAC-8E1B53A3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F723B-F606-4861-96AE-BDE809C9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58263-3A6F-43E1-B488-A9CC7D39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8768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05399-BEAB-4BC5-B3A3-41F19927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4864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8EFD4-5D61-4C16-AE8B-B66435EF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A6E"/>
                </a:solidFill>
              </a:defRPr>
            </a:pPr>
            <a:r>
              <a:rPr sz="1050" b="1">
                <a:solidFill>
                  <a:srgbClr val="157A6E"/>
                </a:solidFill>
              </a:rPr>
              <a:t>THE MODEL MAY RECEIVE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06EAD-0794-4101-A453-1FA78CAB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2D332-4607-4081-824B-FE38B91B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Aliases or pseudonyms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0DB3A-1D75-4AE6-82BF-F331461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9531D-6F6B-4B83-8A77-96EB33D7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The minimum context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1344C-D391-430A-AEB5-3E3BB79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6F2F5-9A0F-4527-91E4-DB763FF4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Approved templates and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DEEA3-A3EF-4371-8BD0-E3A4217E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</a:defRPr>
            </a:pPr>
            <a:r>
              <a:rPr sz="1050" b="1">
                <a:solidFill>
                  <a:srgbClr val="00A6C8"/>
                </a:solidFill>
              </a:rPr>
              <a:t>STAYS WITH THE 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A3E1C-5707-4E4A-A4EB-D3F0918D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5F0E2-1DF6-4DFE-AB8A-762FA286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Identity and source 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7F4D8-00E1-4065-B833-0765D639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A0488-277B-45A9-AC1B-FDADBF33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Professional judgment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36109-ECA3-4FF7-8851-C06BC0E9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2DA07-CD5B-43E5-9A68-5CE860E2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481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Final approval and send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0B105-EFA9-4AA0-BA48-24D37A32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</a:defRPr>
            </a:pPr>
            <a:r>
              <a:rPr sz="1200" b="1">
                <a:solidFill>
                  <a:srgbClr val="667085"/>
                </a:solidFill>
              </a:rPr>
              <a:t>The pilot defines an operational boundary; it is not legal advice or a compliance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2088231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E6E6E-F29B-45DE-8193-7B4D0660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C8"/>
                </a:solidFill>
              </a:defRPr>
            </a:pPr>
            <a:r>
              <a:rPr sz="900" b="1">
                <a:solidFill>
                  <a:srgbClr val="00A6C8"/>
                </a:solidFill>
              </a:rPr>
              <a:t>FIT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A39C5-C298-47D6-8B03-6D4F6DC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The pilot works only when the workflow is ready.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1A89E-E1C6-4A0C-A542-80F2629A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8D0E3-F972-4BFB-A123-4D1ABCF4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D2A0A-FC35-49D3-BE2E-F848D117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017B6-930A-44B0-A53F-300B272C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14350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12FD3-B3C6-4AAF-8998-0B204FB7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529590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EE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DD81E-3603-4968-A25A-00F517F8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</a:defRPr>
            </a:pPr>
            <a:r>
              <a:rPr sz="1125" b="1">
                <a:solidFill>
                  <a:srgbClr val="157A6E"/>
                </a:solidFill>
              </a:rPr>
              <a:t>GOOD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ACE8E-BCA8-425B-A396-D690E202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A17DA-E34E-43D0-AB57-2A8D5A17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Repeated often enough to 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57394-5FE4-4951-A188-5D599C8F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C2F25-E01D-4C90-BDBD-7B38BE3C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81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A named owner can make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15B26-0968-4589-9272-FFA0A8E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D68BF-7831-4B83-B1D4-4CB8A681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Inputs and outputs can be seen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60EA5-1835-46B0-860E-D63F2E24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716F4-5241-4D64-A5CE-CE1E3887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529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Quality or effort can be measured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5BF7C-FB9E-4329-8FFA-3E2EC719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8DB0E-4761-4725-9CC1-C68D8AD8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The data path can be designed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953B8-4A1A-4DE0-8349-305AE5D9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NOT A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36596-50D7-446D-9CCD-F1253837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9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75922-B071-40E4-9736-8FE991A2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Generic AI training is the goal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7E6AA-29CD-40AA-8A60-8285A69F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08CB9-70A3-4C89-B910-2E2E314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813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The process is still undefined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1DD74-303D-469F-B8E6-9A942530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ACBB74-64D0-43BA-9C0E-EF9641A6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671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A full platform replacement is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BE8055-2D5A-479D-B800-DA0CE014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67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358B69-D8BB-4655-A8F1-16B5E4B5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529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No access to users or material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3B842-87A3-4F9E-8C18-8E70354D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53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8CA54E-A799-4BD0-B3C3-910E58FA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38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Guaranteed ROI is required in advance</a:t>
            </a:r>
          </a:p>
        </p:txBody>
      </p:sp>
    </p:spTree>
    <p:extLst>
      <p:ext uri="{BB962C8B-B14F-4D97-AF65-F5344CB8AC3E}">
        <p14:creationId xmlns:p14="http://schemas.microsoft.com/office/powerpoint/2010/main" val="1639399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17273-5A7E-4BAC-AAC4-2CED6672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C8"/>
                </a:solidFill>
              </a:defRPr>
            </a:pPr>
            <a:r>
              <a:rPr sz="900" b="1">
                <a:solidFill>
                  <a:srgbClr val="00A6C8"/>
                </a:solidFill>
              </a:rPr>
              <a:t>WHAT HAPPENS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41486-1E32-4D38-9312-915EE86F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After the pilot, you choose whether to stop or expand.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C7321-42EE-4B58-9660-A29382B1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5411F-6DB3-412D-9728-041FD9D2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F1782-0045-4A2C-97F6-F6456668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33261-D530-4349-A4A9-CB600179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147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12D4C-ED7C-4018-A436-F158C326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</a:defRPr>
            </a:pPr>
            <a:r>
              <a:rPr sz="1050" b="1">
                <a:solidFill>
                  <a:srgbClr val="00A6C8"/>
                </a:solidFill>
              </a:rPr>
              <a:t>STOP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9E6D3-451B-4BDD-893B-37A514BE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Keep the 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99A45-5DB8-4ADD-948F-E8E24F29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745A8-F24F-442E-9F43-985F8115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Use the workflow, SOP and measurement plan internally.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FA974-0B7E-467B-A6DE-A4AA295B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33147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585D6-B9D5-434E-837A-7A00C366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33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C8"/>
                </a:solidFill>
              </a:defRPr>
            </a:pPr>
            <a:r>
              <a:rPr sz="1050" b="1">
                <a:solidFill>
                  <a:srgbClr val="00A6C8"/>
                </a:solidFill>
              </a:rPr>
              <a:t>EXPAND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D0541-FA48-42B4-805B-C2D024F2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4–8 week rollout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2E226-8B7B-4C70-AB45-A954AF53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299AB-9029-40C4-A09C-DC5787DA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Extend the proven approach to adjacent users or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0C031-0080-4774-A699-FCFE8602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33147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A210D-0B93-4F4A-B5B4-0A06AA5F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DDF0"/>
                </a:solidFill>
              </a:defRPr>
            </a:pPr>
            <a:r>
              <a:rPr sz="1050" b="1">
                <a:solidFill>
                  <a:srgbClr val="86DDF0"/>
                </a:solidFill>
              </a:rPr>
              <a:t>PARTNER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49007-AFF9-4C77-B787-B7BE2652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Ongoing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DCEC8-86DA-4EC5-BF1B-17F0DAA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719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9B59E-34AE-4588-A5A2-DB2FB91E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E8F2"/>
                </a:solidFill>
              </a:defRPr>
            </a:pPr>
            <a:r>
              <a:rPr sz="1275" b="0">
                <a:solidFill>
                  <a:srgbClr val="D0E8F2"/>
                </a:solidFill>
              </a:rPr>
              <a:t>Continue improvement, governance and new workflow launches.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4CA85-2BB5-4A08-B84B-2F1BD0E5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The pilot stands on its own. Expansion is a new decision—not an obligation.</a:t>
            </a:r>
          </a:p>
        </p:txBody>
      </p:sp>
    </p:spTree>
    <p:extLst>
      <p:ext uri="{BB962C8B-B14F-4D97-AF65-F5344CB8AC3E}">
        <p14:creationId xmlns:p14="http://schemas.microsoft.com/office/powerpoint/2010/main" val="493541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D8E82-3ED5-4E89-B0FB-A04B37F6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DDF0"/>
                </a:solidFill>
              </a:defRPr>
            </a:pPr>
            <a:r>
              <a:rPr sz="900" b="1">
                <a:solidFill>
                  <a:srgbClr val="86DDF0"/>
                </a:solidFill>
              </a:rPr>
              <a:t>YOUR NEXT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55932-836A-49E0-AD82-F85C4C81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first call decides one thing: is there a workflow worth piloting?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D3405-CA98-4F97-BBF4-5FD6BB32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7A8AE-E75B-4218-BA73-69C3EC53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 · WORKFLOW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D31A6-9DE3-4C82-8E76-D3A61239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6B2C6-9944-48C8-984A-B6FD407A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238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53B5B"/>
          </a:solidFill>
          <a:ln xmlns:a="http://schemas.openxmlformats.org/drawingml/2006/main" w="9525">
            <a:solidFill>
              <a:srgbClr val="2A58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6B597-753B-4BB5-A5A3-701F409F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DDF0"/>
                </a:solidFill>
              </a:defRPr>
            </a:pPr>
            <a:r>
              <a:rPr sz="1125" b="1">
                <a:solidFill>
                  <a:srgbClr val="86DDF0"/>
                </a:solidFill>
              </a:rPr>
              <a:t>30–45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B0A93-F8EB-4368-9D25-97EFDF0A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Free fit 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99BAC-F1AA-4D27-AB51-444F28A6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571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0E8F2"/>
                </a:solidFill>
              </a:defRPr>
            </a:pPr>
            <a:r>
              <a:rPr sz="1350" b="0">
                <a:solidFill>
                  <a:srgbClr val="D0E8F2"/>
                </a:solidFill>
              </a:rPr>
              <a:t>Bring one recurring workflow that is slow, inconsistent or hard to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D1D23-08F7-45F7-BA76-17D0C599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DDF0"/>
                </a:solidFill>
              </a:defRPr>
            </a:pPr>
            <a:r>
              <a:rPr sz="1050" b="1">
                <a:solidFill>
                  <a:srgbClr val="86DDF0"/>
                </a:solidFill>
              </a:rPr>
              <a:t>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F325E-1536-41DE-920C-B9C09607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We agree the workflow and prepare a fixed-scope proposal.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5A5C7-4BE1-4889-91FF-9F57F824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41F52-6E79-440C-AA94-49997A02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76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DDF0"/>
                </a:solidFill>
              </a:defRPr>
            </a:pPr>
            <a:r>
              <a:rPr sz="1050" b="1">
                <a:solidFill>
                  <a:srgbClr val="86DDF0"/>
                </a:solidFill>
              </a:rPr>
              <a:t>ONE FACT 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F1AA5-E30E-4A59-8D80-A6441AEE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004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We name the evidence needed before making a decision.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A9B90-681E-49A6-A526-7087D82E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F6186-356E-4FA6-86B5-E838A205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DDF0"/>
                </a:solidFill>
              </a:defRPr>
            </a:pPr>
            <a:r>
              <a:rPr sz="1050" b="1">
                <a:solidFill>
                  <a:srgbClr val="86DDF0"/>
                </a:solidFill>
              </a:rPr>
              <a:t>NO 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ADFBB-00C8-44A2-A410-86261831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6725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We say so clearly and stop.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15A9B-2DD7-4595-A29C-98BAA90D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62600"/>
            <a:ext cx="6267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6D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8C472-FE10-4F35-B166-2FDA97FC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29275"/>
            <a:ext cx="584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nadav@nyaisolutions.com   ·   +972 54 533 3773</a:t>
            </a:r>
          </a:p>
        </p:txBody>
      </p:sp>
    </p:spTree>
    <p:extLst>
      <p:ext uri="{BB962C8B-B14F-4D97-AF65-F5344CB8AC3E}">
        <p14:creationId xmlns:p14="http://schemas.microsoft.com/office/powerpoint/2010/main" val="21198302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33D89B-EABD-42AB-9274-4A66E2F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C8"/>
                </a:solidFill>
              </a:defRPr>
            </a:pPr>
            <a:r>
              <a:rPr sz="900" b="1">
                <a:solidFill>
                  <a:srgbClr val="00A6C8"/>
                </a:solidFill>
              </a:rPr>
              <a:t>APPENDIX · DELIVERY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DAC6F-603B-4689-A443-2C06D414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How the internal methods support the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5E2F5-8B3D-4AAF-9711-DDCE6D07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6799B-4D90-466F-B91C-8C18CADC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NY AI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B571B-2BB7-4C4A-89CA-E5C9D63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912AF-01BC-439D-9405-67ED7DFE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72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These are internal tools—not the client-facing offer.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E9268-D013-49AC-9186-749AA081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76500" cy="2781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DF1D0-886C-4EEE-A9CF-6349D33A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C8"/>
                </a:solidFill>
              </a:defRPr>
            </a:pPr>
            <a:r>
              <a:rPr sz="975" b="1">
                <a:solidFill>
                  <a:srgbClr val="00A6C8"/>
                </a:solidFill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03AD8-B91B-49F5-BB99-78F8C09F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Audit Toolkit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8E479-440E-4CE2-BD2E-50F663EA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F8B8F-5E17-4B84-A5A7-EF5A21DF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Map the current workflow, evidence and baseline.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EE4C2-25E8-4685-968E-F88B62B5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476500" cy="2781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1C1DD-3630-4F04-AD32-8B5E10B4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C8"/>
                </a:solidFill>
              </a:defRPr>
            </a:pPr>
            <a:r>
              <a:rPr sz="975" b="1">
                <a:solidFill>
                  <a:srgbClr val="00A6C8"/>
                </a:solidFill>
              </a:rPr>
              <a:t>EXPLORE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D4283-8819-486E-AAB7-50C8A862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Innovation + STORM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E4B5E-7409-4AC0-87C2-36AE717F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766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9EA54-AF2E-4243-9035-77E53A48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Generate alternatives when the problem is genuinely ambiguous.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4C5DB-8753-4BCF-A31B-918D6745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476500" cy="2781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BD9B5-A82F-4858-AE20-1AABA6D4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C8"/>
                </a:solidFill>
              </a:defRPr>
            </a:pPr>
            <a:r>
              <a:rPr sz="975" b="1">
                <a:solidFill>
                  <a:srgbClr val="00A6C8"/>
                </a:solidFill>
              </a:rPr>
              <a:t>CHALLENGE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C4252-8127-422E-8283-E5777C35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Red Team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5CBBE-4545-4198-A29C-1941EEB3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F748E-861C-43A4-BD44-354910CB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Test failure modes, privacy boundaries and approval points.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FDD25-5F36-46CA-99D8-51785955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476500" cy="27813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B7D21-D0E2-4B66-AB2E-CA4A7FCE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C8"/>
                </a:solidFill>
              </a:defRPr>
            </a:pPr>
            <a:r>
              <a:rPr sz="975" b="1">
                <a:solidFill>
                  <a:srgbClr val="00A6C8"/>
                </a:solidFill>
              </a:rPr>
              <a:t>DELIVER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C21BE-BA34-4025-BB9E-B5BA0DD7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Pilot + measure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D0BA86-FF26-4484-822E-CDE927D8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766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E4F6E-F05A-4527-B371-AE5A635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Build, test, hand over and decide what happens next.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6A98D-D929-42D8-B650-3732531D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1125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1872E1-DCF1-4EE8-A719-0E2556A8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buyer sees clear decisions, safeguards and deliverables—not methodology names.</a:t>
            </a:r>
          </a:p>
        </p:txBody>
      </p:sp>
    </p:spTree>
    <p:extLst>
      <p:ext uri="{BB962C8B-B14F-4D97-AF65-F5344CB8AC3E}">
        <p14:creationId xmlns:p14="http://schemas.microsoft.com/office/powerpoint/2010/main" val="1110587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2026-08-30T12:20:35.9650000Z</dcterms:created>
  <dcterms:modified xsi:type="dcterms:W3CDTF">2026-08-30T12:20:35.9650000Z</dcterms:modified>
</coreProperties>
</file>